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60" r:id="rId5"/>
    <p:sldId id="262" r:id="rId6"/>
    <p:sldId id="263" r:id="rId7"/>
    <p:sldId id="265" r:id="rId8"/>
    <p:sldId id="266" r:id="rId9"/>
    <p:sldId id="267" r:id="rId10"/>
    <p:sldId id="269" r:id="rId11"/>
    <p:sldId id="270" r:id="rId12"/>
    <p:sldId id="271" r:id="rId13"/>
    <p:sldId id="273" r:id="rId14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8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7"/>
    <p:restoredTop sz="94719"/>
  </p:normalViewPr>
  <p:slideViewPr>
    <p:cSldViewPr snapToGrid="0" snapToObjects="1">
      <p:cViewPr>
        <p:scale>
          <a:sx n="132" d="100"/>
          <a:sy n="132" d="100"/>
        </p:scale>
        <p:origin x="144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5F19F-72BF-5045-A8D0-05CBC419BD7A}" type="datetimeFigureOut">
              <a:t>2026. 3. 31.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B5ACB-C723-EE4A-A22E-092A2B306775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379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B5ACB-C723-EE4A-A22E-092A2B306775}" type="slidenum"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36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1" y="255852"/>
            <a:ext cx="32198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</a:defRPr>
            </a:pPr>
            <a:r>
              <a:rPr lang="en-US"/>
              <a:t>1. </a:t>
            </a:r>
            <a:r>
              <a:t>WikiEngine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0000" y="884303"/>
            <a:ext cx="48554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8DB8"/>
                </a:solidFill>
              </a:defRPr>
            </a:pPr>
            <a:r>
              <a:t>1,215만 건 검색 엔진의 설계부터 RAG까지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7EB9A0F-6605-52D6-887E-FA82975F8498}"/>
              </a:ext>
            </a:extLst>
          </p:cNvPr>
          <p:cNvGrpSpPr/>
          <p:nvPr/>
        </p:nvGrpSpPr>
        <p:grpSpPr>
          <a:xfrm>
            <a:off x="360000" y="1284413"/>
            <a:ext cx="6840000" cy="261610"/>
            <a:chOff x="360000" y="3002178"/>
            <a:chExt cx="6840000" cy="261610"/>
          </a:xfrm>
        </p:grpSpPr>
        <p:sp>
          <p:nvSpPr>
            <p:cNvPr id="5" name="Rectangle 1">
              <a:extLst>
                <a:ext uri="{FF2B5EF4-FFF2-40B4-BE49-F238E27FC236}">
                  <a16:creationId xmlns:a16="http://schemas.microsoft.com/office/drawing/2014/main" id="{C6B65467-6C8C-63ED-E3DF-A4D34AF915A7}"/>
                </a:ext>
              </a:extLst>
            </p:cNvPr>
            <p:cNvSpPr/>
            <p:nvPr/>
          </p:nvSpPr>
          <p:spPr>
            <a:xfrm>
              <a:off x="360000" y="3002178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1D9399-CFC2-8FB3-1125-DBF7AE34B880}"/>
                </a:ext>
              </a:extLst>
            </p:cNvPr>
            <p:cNvSpPr txBox="1"/>
            <p:nvPr/>
          </p:nvSpPr>
          <p:spPr>
            <a:xfrm>
              <a:off x="432000" y="3002178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프로젝트 개요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B2A153D-99C9-2C9C-5321-0BA573A46665}"/>
              </a:ext>
            </a:extLst>
          </p:cNvPr>
          <p:cNvSpPr txBox="1"/>
          <p:nvPr/>
        </p:nvSpPr>
        <p:spPr>
          <a:xfrm>
            <a:off x="360000" y="1684523"/>
            <a:ext cx="7095707" cy="877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WikiEngine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나무위키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한국어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영어 위키백과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뉴스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웹텍스트 등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소스에서 수집한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12,156,589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건의 데이터를 대상으로 한 검색 엔진입니다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4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위키 문서를 그대로 사용하지 않고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실제 커뮤니티 게시판처럼 변환하여 적재했습니다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위키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[[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분류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XXX]]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태그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카테고리로 변환하고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뉴스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웹 콘텐츠는 소스별 고정 카테고리를 부여했으며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author_id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만 명의 더미 유저에게 균등 배정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created_at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2020~2025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범위 내 랜덤 생성했습니다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400"/>
              </a:spcBef>
              <a:defRPr sz="900" b="0">
                <a:solidFill>
                  <a:srgbClr val="1E293B"/>
                </a:solidFill>
              </a:defRPr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900" b="1">
                <a:solidFill>
                  <a:srgbClr val="4B8DB8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기능적 요구사항 정의</a:t>
            </a:r>
            <a:endParaRPr lang="en-US" altLang="ko-KR" sz="900">
              <a:solidFill>
                <a:srgbClr val="4B8DB8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구현에 앞서 자동완성 시스템이 정확히 무엇을 해야 하는지부터 명확히 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  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검색어 제안 기준: 전체 사용자가 최근 24시간 내 입력한 검색어 빈도 기반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제안 개수: 접두사당 상위 10개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지원 언어: 한국어, 영어 (12M 문서 — 나무위키 57만 + 한국어 위키 74만 + 영어 위키 714만 + 뉴스/웹텍스트/C4 370만)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최대 접두사 길이: 60자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대소문자 구분 없음 (내부적으로 소문자 통일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URL 인코딩/디코딩 처리 필요 (공백 등 특수문자 포함 가능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endParaRPr lang="en-US" altLang="ko-KR" sz="900" b="1">
              <a:solidFill>
                <a:srgbClr val="4B8DB8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900" b="1">
                <a:solidFill>
                  <a:srgbClr val="4B8DB8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비기능적 요구사항 정의</a:t>
            </a:r>
            <a:endParaRPr lang="en-US" altLang="ko-KR" sz="900">
              <a:solidFill>
                <a:srgbClr val="4B8DB8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기능 못지않게 얼마나 빠르고 얼마나 많이 처리할 수 있는지를 먼저 수치로 못 박았습니다</a:t>
            </a: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처리 규모: 현재 인프라는 OCI Free Tier 2코어 ARM이므로 k6 부하 테스트 100 VU 기준으로 실측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보통의 검색엔진이였다면 일일 수십억 건의 검색 요청 가정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응답 시간: 평균 입력 속도(초당 4자)보다 빨라야 하므로 최대 240ms 이내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데이터 최신성: 제안 결과가 최대 1시간 지연 허용</a:t>
            </a: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일관성 모델: 최종 일관성(Eventual Consistency) — 모든 사용자에게 동시에 동일한 제안을 보여줄 필요 없습니다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900" b="1">
                <a:solidFill>
                  <a:srgbClr val="4B8DB8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설계 전 핵심 판단</a:t>
            </a:r>
            <a:endParaRPr lang="en-US" altLang="ko-KR" sz="900" b="1">
              <a:solidFill>
                <a:srgbClr val="4B8DB8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요구사항을 정리하면서 세 가지를 먼저 판단했습니다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Trie 자료구조는 대용량 규모에 맞지 않습니다</a:t>
            </a:r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자동완성하면 가장 먼저 떠오르는 건 Trie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메모리: 최대 높이 60의 트리에 12M 문서의 제목 + 검색어 조합이 쌓이면 단일 컴퓨터의 메모리에 담기 어렵습니다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성능: 1~2자 접두사 기준으로 수백만 개의 분기를 순회하고 인기순으로 정렬하면 240ms 안에 응답이 불가능합니다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대신 접두사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정렬된 제안 목록의 단순 매핑(Key-Value) 구조로 전환했습니다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조회가 O(1)에 가깝고, Redis 3개 샤드(Consistent Hashing)에 분산 저장하기도 용이합니다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프로덕션은 flat KV 매핑으로 서빙하는 구조입니다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두 API의 성능 요구사항이 완전히 다르다 </a:t>
            </a:r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CQRS 적용</a:t>
            </a:r>
            <a:endParaRPr lang="en-US" altLang="ko-KR" sz="900" b="1">
              <a:solidFill>
                <a:srgbClr val="00B0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GET /posts/autocomplete?prefix= 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240ms 이내, 읽기 전용 (Redis flat KV 조회)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GET /posts/search?q=                   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 속도 제약 없음, 내부적으로 SearchLogCollector가 검색어 빈도 갱신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읽기와 쓰기의 성능 요구사항이 이렇게 다를 때, 동일한 데이터 표현을 공유하면 읽기 최적화와 쓰기 최적화가 서로를 방해합니다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CQRS(Command Query Responsibility Segregation) 패턴을 적용해 두 책임을 완전히 분리합니다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읽기는 Redis flat KV, 쓰기는 MySQL search_logs 시간 버킷 집계로 각각 최적화된 별도 저장소를 사용합니다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3. 1</a:t>
            </a:r>
            <a:r>
              <a:rPr lang="ko-KR" altLang="en-US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시간 지연이 허용된다 → </a:t>
            </a:r>
            <a:r>
              <a:rPr lang="en-US" altLang="ko-KR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MapReduce </a:t>
            </a:r>
            <a:r>
              <a:rPr lang="ko-KR" altLang="en-US" sz="900" b="1">
                <a:solidFill>
                  <a:srgbClr val="00B05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배치 처리로 충분하다</a:t>
            </a:r>
            <a:endParaRPr lang="en-US" altLang="ko-KR" sz="900" b="1">
              <a:solidFill>
                <a:srgbClr val="00B05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실시간 스트리밍 처리 대신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Spring Batch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기반 배치 파이프라인을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시간 주기로 실행하는 방식을 선택했습니다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파이프라인은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MapReduce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패턴을 따릅니다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Map + Shuffle: SearchLogCollector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검색어별 횟수를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ConcurrentHashMap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인메모리 집계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분마다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MySQL search_logs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(query, time_bucket, count) upsert.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동일한 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같은 행에 모입니다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 Reduce: Spring Batch Job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시간마다 최근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시간 검색어를 집계하고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각 검색어를 접두사별로 분해하여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Top-10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추출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예를 들어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자바스크립트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"(320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",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",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", ...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각 접두사의 후보로 등록됩니다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Reduce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결과를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prefix:top_suggestions:{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접두사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}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형태로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Redis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저장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사용자 조회 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O(1)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즉시 응답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—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정렬은 이미 끝나 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  [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사용자 검색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] -&gt; [Map] ConcurrentHashMap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집계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[Shuffle] MySQL upsert (5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 [Reduce]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접두사 분해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Top-K (1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시간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 -&gt; [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] Redis O(1)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현업의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Hadoop/Spark MapReduce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와 비교하면 단일 서버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Spring Batch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실행하는 차이가 있지만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패턴 자체는 동일합니다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Kafka CDC(Debezium)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배치 주기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시간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사이의 갭을 이벤트 기반으로 메꿔주는 보완 역할입니다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판단이 시스템 복잡도를 크게 낮췄습니다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인프라 구성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ARM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코어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/12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GB): Spring Boot App(Primary) + MySQL(Primary) + Redis(Shard1) + Nginx + Lucene 42GB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ARM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코어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/12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GB): Spring Boot App(Replica) + MySQL(Replica) + Kafka + Debezium + Redis(Shard2,3)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AMD 1GB): Grafana + Loki + InfluxDB(k6)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4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AMD 1GB): Prometheus (500MB, 30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일 보존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4A3E42-DD1D-F077-C997-4CB8E34333CE}"/>
              </a:ext>
            </a:extLst>
          </p:cNvPr>
          <p:cNvSpPr txBox="1"/>
          <p:nvPr/>
        </p:nvSpPr>
        <p:spPr>
          <a:xfrm>
            <a:off x="249299" y="41249"/>
            <a:ext cx="7230905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데이터 소스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나무위키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(2021.03) — 571,364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HuggingFace Bingsu/namuwiki_20210301_filtered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으로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나무마크 본문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커뮤니티 문서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위키백과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(2026.03) — 739,791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Wikimedia Dumps(kowiki)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MediaWiki XML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덤프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ns=0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일반 문서만 필터링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영어 위키백과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(2026.02) — 7,139,510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Wikimedia Dumps(enwiki)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MediaWiki XML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덤프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ns=0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일반 문서만 필터링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뉴스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— 159,639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HuggingFace sieu-n/korean-newstext-dump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으로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뉴스 기사 텍스트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웹텍스트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— 1,284,822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HuggingFace HAERAE-HUB/KOREAN-WEBTEXT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으로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웹 크롤링 텍스트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C4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클린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— 2,261,463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HuggingFace blueapple8259/c4-ko-cleaned-2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JSON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으로 다운로드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Common Crawl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기반 한국어 웹 코퍼스 정제본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합계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12,156,589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(30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개 카테고리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고유 태그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~216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만 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모든 데이터는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HuggingFace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및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Wikimedia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의 공개 데이터셋이며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scripts/convert-hf-datasets.py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변환 후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WikiImportRunner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를 통해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MySQL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 임포트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개 카테고리로 키워드 기반 자동 분류되었고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고유 태그는 약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216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만 개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4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9462E87-82CF-D33D-B7DF-DB1E5E68925B}"/>
              </a:ext>
            </a:extLst>
          </p:cNvPr>
          <p:cNvGrpSpPr/>
          <p:nvPr/>
        </p:nvGrpSpPr>
        <p:grpSpPr>
          <a:xfrm>
            <a:off x="360000" y="1980676"/>
            <a:ext cx="6840000" cy="261610"/>
            <a:chOff x="360000" y="350175"/>
            <a:chExt cx="6840000" cy="261610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9A28CDFC-2A1A-045F-4D9D-A587298F0EC3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582377-578D-A2B7-23C4-91B03EEB7E2D}"/>
                </a:ext>
              </a:extLst>
            </p:cNvPr>
            <p:cNvSpPr txBox="1"/>
            <p:nvPr/>
          </p:nvSpPr>
          <p:spPr>
            <a:xfrm>
              <a:off x="432000" y="350175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1. 검색 엔진 전환 — 정상 상태와 문제 인식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4FF7C4D-D8DE-55B1-42D0-396015B5CC45}"/>
              </a:ext>
            </a:extLst>
          </p:cNvPr>
          <p:cNvSpPr txBox="1"/>
          <p:nvPr/>
        </p:nvSpPr>
        <p:spPr>
          <a:xfrm>
            <a:off x="360000" y="2252111"/>
            <a:ext cx="68400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1단계: 정상 상태 — MySQL LIKE 검색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초기 검색은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MySQL LIKE '%keyword%'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본문을 검색했습니다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posts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테이블은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id(PK, BIGINT AUTO_INCREMENT), title(VARCHAR 500), content(MEDIUMTEXT,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평균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6,586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category_id(FK to categories), view_count(BIGINT), like_count(BIGINT), created_at(DATETIME)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구조입니다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categories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테이블은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id(PK), name(VARCHAR UNIQUE), parent_id(BIGINT nullable,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계층 구조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posts:categories = N:1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관계입니다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데이터 규모는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12,156,589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건이며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content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컬럼에 위키 마크업이 포함되어 있어 평균 행 크기가 큽니다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343BF-719B-4026-1879-1AC2FC067E56}"/>
              </a:ext>
            </a:extLst>
          </p:cNvPr>
          <p:cNvSpPr txBox="1"/>
          <p:nvPr/>
        </p:nvSpPr>
        <p:spPr>
          <a:xfrm>
            <a:off x="359837" y="3250343"/>
            <a:ext cx="684000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2단계: 문제 인식 — 타임아웃과 cascade failure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k6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부하 테스트에서 검색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API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5,000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이상 타임아웃되는 현상이 반복적으로 발생했습니다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EXPLAIN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확인한 결과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type=ALL, rows=27,443,742 —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전체 테이블을 순차 스캔하고 있었습니다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LIKE '%keyword%'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와일드카드가 앞에 있어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B-Tree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인덱스를 사용할 수 없고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27,443,742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건의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MEDIUMTEXT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행마다 문자열 비교해야 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더 심각한 문제는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cascade failure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였습니다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쿼리 하나가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HikariCP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커넥션을 수 초간 점유하면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다른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API(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목록 조회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상세 조회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게시글 작성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도 커넥션을 얻지 못해 전체 서비스가 마비됩니다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HikariCP maximumPoolSize=10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에서 검색 쿼리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3~4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개만 동시에 실행되면 나머지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6~7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커넥션이 모두 대기 상태에 빠집니다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16E7F-C37E-CD3C-71E9-6C8D061049BD}"/>
              </a:ext>
            </a:extLst>
          </p:cNvPr>
          <p:cNvSpPr txBox="1"/>
          <p:nvPr/>
        </p:nvSpPr>
        <p:spPr>
          <a:xfrm>
            <a:off x="360000" y="4599430"/>
            <a:ext cx="6840000" cy="82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1차 시도 — FULLTEXT ngram 인덱스:</a:t>
            </a: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12초 -&gt; 6ms (2,100배 개선). </a:t>
            </a:r>
            <a:endParaRPr 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하지만 ngram은 2글자 단위로 토큰을 분리하므로 '대한'이 수백만 건에 매칭되어 posting list 순회가 폭발합니다. </a:t>
            </a:r>
            <a:endParaRPr 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고빈도 토큰에서 다시 5,000ms+ 타임아웃. </a:t>
            </a:r>
            <a:endParaRPr 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9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또한 12,156,589건 x ngram 토큰 = 인덱스 크기 300GB+ 추정으로, 12GB 서버에서 인덱스 생성 자체가 불가능했습니다.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2784F-8A0F-AFAE-F209-D4BBD4FA84D5}"/>
              </a:ext>
            </a:extLst>
          </p:cNvPr>
          <p:cNvSpPr txBox="1"/>
          <p:nvPr/>
        </p:nvSpPr>
        <p:spPr>
          <a:xfrm>
            <a:off x="360000" y="5481186"/>
            <a:ext cx="6840000" cy="11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3단계: 문제 분석 — 왜 MySQL 전문 검색은 한계인가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MySQL FULLTEXT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구조적 한계 세 가지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ngram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토큰 폭발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글자 단위 분리로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대한민국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-&gt; 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대한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','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','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민국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3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토큰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대한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수백만 건에 매칭되어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posting list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순회 비용이 폭발합니다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한국어 형태소 분석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명사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조사 분리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아닌 단순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n-gram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이라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false positive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많습니다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 크기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12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x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평균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6,586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x ngram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토큰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= 300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GB+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추정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서버 디스크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47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GB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중 데이터만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GB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차지하여 물리적으로 저장 불가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boolean mode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자연어 검색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NL mode)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50%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이상 문서에 포함된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자동 제외됩니다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MySQL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공식 문서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). 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위키 데이터에서 일반적인 한국어 조사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어미가 이 임계값을 넘어 검색 결과에서 빠집니다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93538-D974-3558-F634-A4287DE19655}"/>
              </a:ext>
            </a:extLst>
          </p:cNvPr>
          <p:cNvSpPr txBox="1"/>
          <p:nvPr/>
        </p:nvSpPr>
        <p:spPr>
          <a:xfrm>
            <a:off x="360000" y="6576516"/>
            <a:ext cx="68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sz="900">
                <a:latin typeface="NanumGothic" panose="020D0604000000000000" pitchFamily="34" charset="-127"/>
                <a:ea typeface="NanumGothic" panose="020D0604000000000000" pitchFamily="34" charset="-127"/>
              </a:rPr>
              <a:t>결론: MySQL의 검색 기능으로는 1,215만 건 규모의 한국어 문서를 다룰 수 없습니다. 전문 검색 엔진이 필요합니다.</a:t>
            </a:r>
          </a:p>
        </p:txBody>
      </p:sp>
      <p:pic>
        <p:nvPicPr>
          <p:cNvPr id="13" name="Picture 9" descr="like-response-time.png">
            <a:extLst>
              <a:ext uri="{FF2B5EF4-FFF2-40B4-BE49-F238E27FC236}">
                <a16:creationId xmlns:a16="http://schemas.microsoft.com/office/drawing/2014/main" id="{0E5D5CFC-8CF1-2F3D-984D-48609F4F3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6866598"/>
            <a:ext cx="3240000" cy="106710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DC0AB26A-6490-1B8F-078B-1DF09725BA3C}"/>
              </a:ext>
            </a:extLst>
          </p:cNvPr>
          <p:cNvGrpSpPr/>
          <p:nvPr/>
        </p:nvGrpSpPr>
        <p:grpSpPr>
          <a:xfrm>
            <a:off x="359837" y="8344498"/>
            <a:ext cx="6840000" cy="261610"/>
            <a:chOff x="360000" y="354276"/>
            <a:chExt cx="6840000" cy="261610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CD463F64-E1A2-47F1-9ECF-36C65D312F5C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75DDB6-7D1D-EEB1-C665-607021536FF9}"/>
                </a:ext>
              </a:extLst>
            </p:cNvPr>
            <p:cNvSpPr txBox="1"/>
            <p:nvPr/>
          </p:nvSpPr>
          <p:spPr>
            <a:xfrm>
              <a:off x="432000" y="354276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1. 검색 엔진 전환 — 대안 비교와 결과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0C2DC4D-CB6F-E706-1C96-85573BB977F2}"/>
              </a:ext>
            </a:extLst>
          </p:cNvPr>
          <p:cNvSpPr txBox="1"/>
          <p:nvPr/>
        </p:nvSpPr>
        <p:spPr>
          <a:xfrm>
            <a:off x="360000" y="8633432"/>
            <a:ext cx="6840000" cy="1756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4단계: 대안 비교 — Elasticsearch vs 임베디드 Lucene vs OpenSearch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세 가지 대안을 비교했습니다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핵심 판단 기준은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'12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GB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서버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대에서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App + MySQL + Redis + Kafka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를 모두 운영하면서 검색 엔진을 추가할 수 있는가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였습니다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E74C3C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Elasticsearch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네이티브 검색 기능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Aggregation, LTR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플러그인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REST API,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동의어 관리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이 풍부합니다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하지만 단일 노드라도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JVM 2GB+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메모리가 별도로 필요합니다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HA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구성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(3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노드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이면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GB+.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현재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12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GB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서버에서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Spring Boot App(JVM 2GB) + MySQL(InnoDB 4GB) + Redis(256MB x 3) + Kafka(JVM 2GB) =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이미 약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9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GB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를 사용 중입니다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여기에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ES JVM 2GB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를 추가하면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OS +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파일시스템 캐시용 메모리가 부족합니다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또한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42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GB Lucene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인덱스를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ES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가 관리하면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ES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프로세스가 추가 메모리를 사용합니다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893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DD7FC9A-3B25-69A1-EB57-B486A9E0DE07}"/>
              </a:ext>
            </a:extLst>
          </p:cNvPr>
          <p:cNvSpPr txBox="1"/>
          <p:nvPr/>
        </p:nvSpPr>
        <p:spPr>
          <a:xfrm>
            <a:off x="338805" y="192506"/>
            <a:ext cx="6882063" cy="157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27AE60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임베디드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앱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JVM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내에서 동작하여 별도 프로세스가 없습니다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네트워크 홉 없이 같은 프로세스에서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IndexSearcher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를 직접 호출하므로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REST API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직렬화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역직렬화 오버헤드가 없습니다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Nori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한국어 형태소 분석기를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Analyzer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체인에 직접 통합할 수 있고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MMapDirectory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OS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파일시스템 캐시를 활용합니다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 10.3.2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는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BM25, FeatureField, Rescorer API, SortedSetDocValuesFacets, UnifiedHighlighter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등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ES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의 핵심 기능을 대부분 직접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API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제공합니다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E67E22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한계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분산 검색이 필요하면 앱 레벨 샤딩을 직접 구현해야 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현재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대 서버에서는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rsync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인덱스를 동기화하고 있으며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10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대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확장 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ES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마이그레이션을 검토합니다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OpenSearch Serverless: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관리형이지만 월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$200+</a:t>
            </a:r>
          </a:p>
        </p:txBody>
      </p:sp>
      <p:pic>
        <p:nvPicPr>
          <p:cNvPr id="23" name="Picture 5" descr="step9-load-k6-after-viewcount.png">
            <a:extLst>
              <a:ext uri="{FF2B5EF4-FFF2-40B4-BE49-F238E27FC236}">
                <a16:creationId xmlns:a16="http://schemas.microsoft.com/office/drawing/2014/main" id="{1B5DAC04-8D95-9AB4-BC14-1712ECBF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767296"/>
            <a:ext cx="6840000" cy="375490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7E851CC-DBC3-E920-8606-383A717E699F}"/>
              </a:ext>
            </a:extLst>
          </p:cNvPr>
          <p:cNvSpPr txBox="1"/>
          <p:nvPr/>
        </p:nvSpPr>
        <p:spPr>
          <a:xfrm>
            <a:off x="360000" y="5605917"/>
            <a:ext cx="6840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5단계: 결과 — Lucene 전환 후 수치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 10.3.2 + Nori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형태소 분석기 적용 후</a:t>
            </a: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본문 검색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타임아웃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(5,000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ms+) -&gt; 29ms (P95 100ms)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BM25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스코어링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title:3, content:1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가중치 적용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MultiFieldQueryParser)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FeatureField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부스팅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viewCount(saturation, w=3.0, pivot=1000) + likeCount(w=2.0, pivot=100)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RecencyDecay: 30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일 반감기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DoubleValuesSource)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P@10: 0.827 -&gt; 0.853 (+3.2%), PhraseQuery(slop=2)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적용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(15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개 테스트 쿼리 수동 평가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추가 해결한 문제들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COUNT(*) 2,038ms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제거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Page -&gt; Slice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전환으로 불필요한 전체 건수 카운트 제거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에러율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32.53% -&gt; 0%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Deferred Join: OFFSET 14,750,000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건 페이지네이션이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보다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38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배 느린 문제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(2,518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ms vs 66ms). Covering Index + Deferred Join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구조로 해결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61619A0-8060-9697-2DE0-75E57B314DDA}"/>
              </a:ext>
            </a:extLst>
          </p:cNvPr>
          <p:cNvGrpSpPr/>
          <p:nvPr/>
        </p:nvGrpSpPr>
        <p:grpSpPr>
          <a:xfrm>
            <a:off x="360000" y="7437188"/>
            <a:ext cx="6840000" cy="261610"/>
            <a:chOff x="360000" y="5626366"/>
            <a:chExt cx="6840000" cy="261610"/>
          </a:xfrm>
        </p:grpSpPr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CB9D2BC6-B4AF-34CD-D78F-0E633D3E2537}"/>
                </a:ext>
              </a:extLst>
            </p:cNvPr>
            <p:cNvSpPr/>
            <p:nvPr/>
          </p:nvSpPr>
          <p:spPr>
            <a:xfrm>
              <a:off x="360000" y="5641322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3F4C0B-9F4F-BA0D-1E4A-13577269962D}"/>
                </a:ext>
              </a:extLst>
            </p:cNvPr>
            <p:cNvSpPr txBox="1"/>
            <p:nvPr/>
          </p:nvSpPr>
          <p:spPr>
            <a:xfrm>
              <a:off x="432000" y="5626366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2. 캐시 전략 + 자동완성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0F0A09F-5B26-EF0F-8E0E-E87BA8145361}"/>
              </a:ext>
            </a:extLst>
          </p:cNvPr>
          <p:cNvSpPr txBox="1"/>
          <p:nvPr/>
        </p:nvSpPr>
        <p:spPr>
          <a:xfrm>
            <a:off x="360000" y="7731194"/>
            <a:ext cx="684000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정상 상태와 문제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Lucene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검색 자체는 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29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ms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로 빨라졌지만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동일한 검색어에 대해 매번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Lucene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인덱스를 탐색하는 것은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CPU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낭비입니다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검색 트래픽은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Zipf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분포를 따라 소수의 인기 검색어가 전체 트래픽의 대부분을 차지합니다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 sz="9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k6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부하 테스트에서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BM25 + FeatureField + RecencyDecay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스코어링이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CPU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를 지속적으로 사용하여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, 100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VU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CPU 80~100% </a:t>
            </a:r>
            <a:r>
              <a:rPr lang="ko-KR" altLang="en-US" sz="900">
                <a:latin typeface="NanumGothic" panose="020D0604000000000000" pitchFamily="34" charset="-127"/>
                <a:ea typeface="NanumGothic" panose="020D0604000000000000" pitchFamily="34" charset="-127"/>
              </a:rPr>
              <a:t>포화가 발생했습니다</a:t>
            </a:r>
            <a:r>
              <a:rPr lang="en-US" altLang="ko-KR" sz="9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Redis vs CDN vs Caffeine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비교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CDN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은 이미지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정적 리소스에 적합하지만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검색 결과는 키워드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페이지 조합으로 캐시 키가 폭발합니다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Redis(ElastiCache)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는 월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만원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이지만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Free Tier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서버 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Redis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는 추가 비용 없습니다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Caffeine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은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JVM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L1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캐시로 네트워크 지연 없이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0.1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ms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미만 응답이 가능합니다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단일 서버에서는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Caffeine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만으로 충분하지만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스케일아웃 시 인스턴스 간 캐시 불일치가 발생합니다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8F1AA9-4240-8CCD-6F0C-4677A5F6F16E}"/>
              </a:ext>
            </a:extLst>
          </p:cNvPr>
          <p:cNvSpPr txBox="1"/>
          <p:nvPr/>
        </p:nvSpPr>
        <p:spPr>
          <a:xfrm>
            <a:off x="360000" y="9442734"/>
            <a:ext cx="3175251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결과 — Caffeine L1 + Redis L2 2계층 캐시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Caffeine L1: 73%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히트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같은 인스턴스 반복 요청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0.1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ms)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Redis L2: 9%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추가 히트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다른 인스턴스 캐시 미스 커버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P95 2.5ms)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합산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82%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히트율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Origin(Lucene/MySQL)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도달률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19%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전체 응답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776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ms -&gt; 54ms (14.4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 개선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 algn="l">
              <a:defRPr sz="900" b="1">
                <a:solidFill>
                  <a:srgbClr val="27AE60"/>
                </a:solidFill>
              </a:defRPr>
            </a:pP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0" name="Picture 7" descr="after-03-spring-boot-system-tiered.png">
            <a:extLst>
              <a:ext uri="{FF2B5EF4-FFF2-40B4-BE49-F238E27FC236}">
                <a16:creationId xmlns:a16="http://schemas.microsoft.com/office/drawing/2014/main" id="{5B02D69E-AA63-442C-C8B9-A4045A0F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413" y="9463430"/>
            <a:ext cx="2872424" cy="1134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59999" y="111701"/>
            <a:ext cx="7006715" cy="3090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자동완성 — Trie에서 Redis flat KV로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l">
              <a:defRPr sz="900" b="1">
                <a:solidFill>
                  <a:srgbClr val="4A8DB8"/>
                </a:solidFill>
              </a:defRPr>
            </a:pP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자동완성을 위해 먼저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자료구조를 구현했습니다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로그에서 인기 검색어를 추출하고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적재하여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접두사 입력 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DFS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Top-10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제안을 반환합니다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한국어 자모 분해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중성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종성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적용하여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삼ㅅ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입력 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삼성전자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제안되도록 구현했습니다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하지만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JVM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힙에 존재하므로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App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대에서 각각 독립적인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가져야 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인스턴스 간 일관성 문제가 발생합니다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또한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DFS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순회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Copy-on-Write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메모리 부담입니다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영어로 가게 된다면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잠재적 높이는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60(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최대 접두사 길이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기대하게 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만약 하루에 수십억 건의 검색 요청이 온다면 영어 단어와 구의 거의 모든 조합이 포함될 가능성이 큽니다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각 노드가 최대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개의 자식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공백 등 특수문자 제외 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가질 수 있으므로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이 트리는 단일 컴퓨터 메모리에 저장하기엔 너무 클 수 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또한 성능문제로는 주어진 접두사에 대해 모든 분기를 순회하여 해당 접두사로 시작하는 문자열을 찾은 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인기순으로 정렬해야 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1~2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개의 문자 접두사에 대해서는 분기 수가 매우 크므로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순회 및 정렬에 시간이 너무 오래 걸립니다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Redis flat KV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전환하여 접두사를 키로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Top-10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제안을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JSON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배열로 사전 계산합니다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Redis GET O(1)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단일 명령으로 조회하므로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DFS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순회가 없고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공유 저장소이므로 어떤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App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응답해도 동일한 결과입니다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E67E22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@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Scheduled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배치를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Spring Batch Job+Tasklet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전환하여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JobRepository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실행 이력이 자동 기록되고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FAILED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상태에서 재시작이 가능해졌습니다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C5A9105-FE44-C54B-F37E-20E6920712F8}"/>
              </a:ext>
            </a:extLst>
          </p:cNvPr>
          <p:cNvGrpSpPr/>
          <p:nvPr/>
        </p:nvGrpSpPr>
        <p:grpSpPr>
          <a:xfrm>
            <a:off x="360000" y="3325401"/>
            <a:ext cx="6840000" cy="261610"/>
            <a:chOff x="360000" y="357922"/>
            <a:chExt cx="6840000" cy="261610"/>
          </a:xfrm>
        </p:grpSpPr>
        <p:sp>
          <p:nvSpPr>
            <p:cNvPr id="12" name="Rectangle 1">
              <a:extLst>
                <a:ext uri="{FF2B5EF4-FFF2-40B4-BE49-F238E27FC236}">
                  <a16:creationId xmlns:a16="http://schemas.microsoft.com/office/drawing/2014/main" id="{491BE153-4D8E-D8F0-ADCF-2A969C585643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8FF045-6240-0C91-6A3E-57762520372C}"/>
                </a:ext>
              </a:extLst>
            </p:cNvPr>
            <p:cNvSpPr txBox="1"/>
            <p:nvPr/>
          </p:nvSpPr>
          <p:spPr>
            <a:xfrm>
              <a:off x="432000" y="357922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3. 분산 아키텍처 — 단일 서버 한계 발견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4323598-8321-ED8D-4220-87AFD8DD8610}"/>
              </a:ext>
            </a:extLst>
          </p:cNvPr>
          <p:cNvSpPr txBox="1"/>
          <p:nvPr/>
        </p:nvSpPr>
        <p:spPr>
          <a:xfrm>
            <a:off x="359836" y="3628625"/>
            <a:ext cx="5912011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정상 상태와 문제 — k6 stress 테스트 (200 VU, 25분)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defRPr sz="900" b="0">
                <a:solidFill>
                  <a:srgbClr val="1E293B"/>
                </a:solidFill>
              </a:defRPr>
            </a:pPr>
            <a:endParaRPr lang="en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 + Caffeine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캐시까지 적용한 상태에서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k6 stress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테스트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(200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VU, 25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수행했습니다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ARM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코어 서버에서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100%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포화되었습니다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 BM25 + Nori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형태소 분석이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CPU-intensive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하여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Caffeine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캐시 미스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(18%)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발생할 때마다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급격히 올라갑니다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Load Average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20+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까지 치솟으며 모든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Tomcat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스레드가 점유됩니다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E74C3C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P95: 1,413ms (SLA 300ms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200"/>
              </a:spcBef>
              <a:defRPr sz="900" b="0">
                <a:solidFill>
                  <a:srgbClr val="E74C3C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에러율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13.25% (100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VU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200"/>
              </a:spcBef>
              <a:defRPr sz="900" b="0">
                <a:solidFill>
                  <a:srgbClr val="E74C3C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처리량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~30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req/s</a:t>
            </a:r>
          </a:p>
          <a:p>
            <a:pPr>
              <a:spcBef>
                <a:spcPts val="200"/>
              </a:spcBef>
              <a:defRPr sz="900" b="0">
                <a:solidFill>
                  <a:srgbClr val="E74C3C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CPU: 100%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지속 포화</a:t>
            </a:r>
          </a:p>
          <a:p>
            <a:pPr>
              <a:spcBef>
                <a:spcPts val="300"/>
              </a:spcBef>
              <a:defRPr sz="800" b="0">
                <a:solidFill>
                  <a:srgbClr val="E67E22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JVM G1GC, HikariCP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튜닝 시도했으나 근본 해결 안 됨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병목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pic>
        <p:nvPicPr>
          <p:cNvPr id="15" name="Picture 5" descr="A-2-k6-grafana-overview.png">
            <a:extLst>
              <a:ext uri="{FF2B5EF4-FFF2-40B4-BE49-F238E27FC236}">
                <a16:creationId xmlns:a16="http://schemas.microsoft.com/office/drawing/2014/main" id="{2F9F841A-8961-5015-E1E8-D2497BDC6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5670535"/>
            <a:ext cx="5467690" cy="30081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F57A4C-0EB4-FFEF-D9A3-64BBD059A2F6}"/>
              </a:ext>
            </a:extLst>
          </p:cNvPr>
          <p:cNvSpPr txBox="1"/>
          <p:nvPr/>
        </p:nvSpPr>
        <p:spPr>
          <a:xfrm>
            <a:off x="360000" y="8799870"/>
            <a:ext cx="5912011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분석 — 왜 튜닝으로 해결할 수 없는가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문제의 근본 원인은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코어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ARM 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물리적 한계입니다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BM25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스코어링은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마다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posting list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순회하면서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TF/IDF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계산하고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Nori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한국어 문장을 형태소 단위로 분해합니다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두 연산이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CPU-bound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캐시 히트율을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82%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까지 올려도 나머지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18%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Origin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요청이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포화시킵니다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JVM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튜닝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G1GC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스레드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HikariCP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풀 사이즈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메모리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IO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병목에 효과적이지만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CPU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병목에는 소용없습니다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물리적으로 코어를 추가하는 수평 확장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스케일아웃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필요합니다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스케일아웃의 전제조건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Caffeine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캐시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자동완성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TokenBlacklist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모두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JVM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힙에 있어 인스턴스 간 상태가 공유되지 않습니다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먼저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Stateless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전환해야 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3160F7C-B1D1-8CC8-1757-6D5207D35617}"/>
              </a:ext>
            </a:extLst>
          </p:cNvPr>
          <p:cNvGrpSpPr/>
          <p:nvPr/>
        </p:nvGrpSpPr>
        <p:grpSpPr>
          <a:xfrm>
            <a:off x="360000" y="345044"/>
            <a:ext cx="6840000" cy="261610"/>
            <a:chOff x="360000" y="345044"/>
            <a:chExt cx="6840000" cy="261610"/>
          </a:xfrm>
        </p:grpSpPr>
        <p:sp>
          <p:nvSpPr>
            <p:cNvPr id="2" name="Rectangle 1"/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32000" y="345044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3. 분산 아키텍처 — 6개 컴포넌트 도입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000" y="648000"/>
            <a:ext cx="6929442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1. Stateless 전환 + Redis L2 캐시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Caffeine(L1 캐시), Trie(자동완성), TokenBlacklist(JWT 무효화)를 모두 Redis로 외부화했습니다.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이제 App 인스턴스에 상태가 없으므로 자유롭게 추가/제거할 수 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Trie는 Redis flat KV O(1)로 전환(앞서 설명), TokenBlacklist는 Redis Set + TTL로 이관했습니다.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2. MySQL GTID Replication (R/W 분리)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Primary(쓰기) + Replica(읽기) 구성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AbstractRoutingDataSource + LazyConnectionDataSourceProxy로 @Transactional(readOnly) 어노테이션 기반 자동 라우팅합니다.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HikariCP를 Primary 5 + Replica 15 커넥션풀로 분리했습니다.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검색은 대부분 읽기이므로 Replica가 70%+ 부하를 흡수합니다.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Lag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는</a:t>
            </a: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 0~1초로 최종 일관성(Eventual Consistency) 허용.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3. Nginx L7 least_conn + App 2대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App 2대로 확장하고 Nginx로 L7 로드 밸런싱합니다.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least_conn 알고리즘으로 현재 활성 연결이 적은 서버에 요청을 보냅니다.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Lucene 인덱스는 rsync + cron으로 Primary -&gt; Replica 동기화합니다.</a:t>
            </a:r>
          </a:p>
          <a:p>
            <a:pPr>
              <a:spcBef>
                <a:spcPts val="200"/>
              </a:spcBef>
              <a:defRPr sz="800" b="0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결과: 에러율 13.25% -&gt; 0%, P95 2,300ms -&gt; 158ms, 평균 482ms -&gt; 37ms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4. Redis INCR + Write-Behind (조회수 동시성)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게시글 상세 조회(GET) API에서 viewCount UPDATE가 실행되는데, R/W 분리 후 읽기 트랜잭션에서 UPDATE를 시도하여 에러가 발생합니다(Read-only connection).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Redis INCR로 원자적 카운팅 후 30초 배치로 DB에 플러시하는 Write-Behind 패턴으로 해결했습니다.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GET 요청에서 쓰기가 완전히 제거되어 에러율 11.10% -&gt; 0%.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5. Debezium + Kafka CDC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PostService에서 MySQL UPDATE와 Lucene updateDocument를 직접 호출하는 dual-write가 강한 결합과 성능 문제를 일으켰습니다(게시글 생성 5,315ms).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Spring Event -&gt; @ApplicationModuleListener -&gt; Debezium+Kafka CDC 3단계로 진화시켰습니다.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MySQL binlog를 Debezium이 캡처하여 Kafka topic으로 발행하고, Consumer가 Lucene 인덱스와 L1/L2 캐시를 자동 업데이트합니다.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게시글 생성 5,315ms -&gt; 33ms (160배).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DLQ + AckMode.RECORD로 에러 핸들링을 강화하여, 실패 메시지는 Dead Letter Topic에 격리되고 9회 재시도 후에도 실패하면 사후 분석이 가능합니다.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6. Redis 3노드 Consistent Hashing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단일 Redis에서 KEYS 명령이 34.6ms SLOWLOG에 기록되었습니다.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자동완성 배치(buildPrefixTopK)가 매시간 수만 개 키를 동시에 SET하면서, 실시간 GET/INCR과 같은 싱글스레드에서 경합합니다.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KEYS -&gt; SCAN으로 전환하고, 3노드 Consistent Hashing(MurmurHash3)으로 자동완성/캐시/블랙리스트 워크로드를 물리적으로 격리했습니다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89F727-5940-8446-C24D-0C5BCB9E3476}"/>
              </a:ext>
            </a:extLst>
          </p:cNvPr>
          <p:cNvGrpSpPr/>
          <p:nvPr/>
        </p:nvGrpSpPr>
        <p:grpSpPr>
          <a:xfrm>
            <a:off x="360000" y="5875014"/>
            <a:ext cx="6840000" cy="236078"/>
            <a:chOff x="360000" y="357922"/>
            <a:chExt cx="6840000" cy="236078"/>
          </a:xfrm>
        </p:grpSpPr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146D8458-6A2A-DCB9-173B-C810C24A1182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2FDECA-48A0-8FD9-6451-FEE1FFA895F7}"/>
                </a:ext>
              </a:extLst>
            </p:cNvPr>
            <p:cNvSpPr txBox="1"/>
            <p:nvPr/>
          </p:nvSpPr>
          <p:spPr>
            <a:xfrm>
              <a:off x="432000" y="357922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3. 분산 아키텍처 — 검증 결과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BC94F1C-855A-9937-41AA-A8A0FEFD483F}"/>
              </a:ext>
            </a:extLst>
          </p:cNvPr>
          <p:cNvSpPr txBox="1"/>
          <p:nvPr/>
        </p:nvSpPr>
        <p:spPr>
          <a:xfrm>
            <a:off x="360000" y="6111092"/>
            <a:ext cx="6840000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k6 stress 테스트 (200 VU, 분산 아키텍처)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분산 아키텍처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(2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App + MySQL Replication + Redis 3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샤드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Kafka CDC)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전환 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200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VU stress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테스트를 수행했습니다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에러율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13.25% 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단일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 -&gt; 0.09% 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      에러 거의 제거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처리량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30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req/s -&gt; 109 req/s              3.6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 증가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P95: 2,300ms -&gt; 190ms                      12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 개선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100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VU P95: 200ms                          SLA(300ms)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충족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MySQL(InnoDB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버퍼풀 히트율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100%,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Row Lock 0), Redis(OPS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정상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Kafka(Consumer Lag 0~3K -&gt; 0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수렴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CDC Lag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피크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40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ms), Nginx(Active Conn 200+)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모두 여유가 있었고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App CPU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만이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80-100%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여전히 근본 병목임을 소거법으로 확인했습니다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800" b="0">
                <a:solidFill>
                  <a:srgbClr val="94A3B8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Replication Lag 0~1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 안정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Primary SELECT ~10 ops/s, Replica SELECT ~70 ops/s.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수신 데이터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242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MiB.</a:t>
            </a:r>
          </a:p>
        </p:txBody>
      </p:sp>
      <p:pic>
        <p:nvPicPr>
          <p:cNvPr id="11" name="Picture 5" descr="phase16-stress-k6-overview.png">
            <a:extLst>
              <a:ext uri="{FF2B5EF4-FFF2-40B4-BE49-F238E27FC236}">
                <a16:creationId xmlns:a16="http://schemas.microsoft.com/office/drawing/2014/main" id="{333466B0-1647-9CB5-23D8-C4BDF99AB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880413"/>
            <a:ext cx="6840000" cy="12792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phase14-cdc-k6-overview.png">
            <a:extLst>
              <a:ext uri="{FF2B5EF4-FFF2-40B4-BE49-F238E27FC236}">
                <a16:creationId xmlns:a16="http://schemas.microsoft.com/office/drawing/2014/main" id="{3508B14D-1134-2FA9-9242-726185D7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797"/>
            <a:ext cx="6840000" cy="377916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0F6521C-8C5F-E8BE-95E4-F76249E5D9AC}"/>
              </a:ext>
            </a:extLst>
          </p:cNvPr>
          <p:cNvGrpSpPr/>
          <p:nvPr/>
        </p:nvGrpSpPr>
        <p:grpSpPr>
          <a:xfrm>
            <a:off x="360000" y="4104116"/>
            <a:ext cx="6840000" cy="261610"/>
            <a:chOff x="360000" y="357922"/>
            <a:chExt cx="6840000" cy="261610"/>
          </a:xfrm>
        </p:grpSpPr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50D0AE10-3276-7B3D-BBF8-74187A3CB985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5FABF-FFD5-92E3-609B-583A5916CBDF}"/>
                </a:ext>
              </a:extLst>
            </p:cNvPr>
            <p:cNvSpPr txBox="1"/>
            <p:nvPr/>
          </p:nvSpPr>
          <p:spPr>
            <a:xfrm>
              <a:off x="432000" y="357922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4. 검색 품질 — 동의어 확장 + 오타 교정 + Snippet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3BD7408-E7CA-F592-F2E4-7BB35A6E6EFC}"/>
              </a:ext>
            </a:extLst>
          </p:cNvPr>
          <p:cNvSpPr txBox="1"/>
          <p:nvPr/>
        </p:nvSpPr>
        <p:spPr>
          <a:xfrm>
            <a:off x="360000" y="4365726"/>
            <a:ext cx="6840000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문제 인식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—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세 가지 검색 품질 한계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동의어 미지원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Recall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손실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): "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AI"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검색하면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인공지능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문서가 누락됩니다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b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정확한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매칭만 하므로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약어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동의어 관계를 알 수 없습니다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"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DB" -&gt;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데이터베이스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", "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ML" -&gt;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머신러닝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도 마찬가지입니다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오타 교정 미지원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실패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):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프로그래링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시 결과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컴퓨텨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시 결과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결과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건은 사용자 이탈의 주요 원인입니다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Snippet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무관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문서 앞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150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자를 잘라서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snippet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표시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b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가비지 컬렉션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자바는 제임스 고슬링이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1995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년에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...'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GC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언급 없음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검색어가 본문 중간에 있으면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snippet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나타나지 않습니다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7F59E-078E-32AD-46C3-239C85D56CE0}"/>
              </a:ext>
            </a:extLst>
          </p:cNvPr>
          <p:cNvSpPr txBox="1"/>
          <p:nvPr/>
        </p:nvSpPr>
        <p:spPr>
          <a:xfrm>
            <a:off x="360000" y="5301772"/>
            <a:ext cx="684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대안 비교 — 동의어 처리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 타임 동의어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SynonymGraphFilter):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인덱스에 동의어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추가하여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document frequency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인위적으로 높입니다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'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AI'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인덱싱할 때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인공지능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도 함께 추가하면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인공지능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DF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실제보다 부풀려져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BM25 IDF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계산이 왜곡됩니다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해당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가중치가 낮아져 오히려 검색 품질이 저하될 수 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OpenSource Connections 'Solr Synonyms Mea Culpa'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에서 실사례로 경고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300"/>
              </a:spcBef>
              <a:defRPr sz="800" b="0">
                <a:solidFill>
                  <a:srgbClr val="27AE60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쿼리 타임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DB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기반 확장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선택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term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통계가 불변이므로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IDF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왜곡이 없습니다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동의어 추가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삭제 시 재색인이 불필요하고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DB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에서 즉시 반영됩니다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Caffeine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캐시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TTL 30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DB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조회 비용을 완화합니다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2D5BA5-63EC-369E-A377-B5F78A999B5B}"/>
              </a:ext>
            </a:extLst>
          </p:cNvPr>
          <p:cNvSpPr txBox="1"/>
          <p:nvPr/>
        </p:nvSpPr>
        <p:spPr>
          <a:xfrm>
            <a:off x="360000" y="6224938"/>
            <a:ext cx="51264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'AI' 검색: 영문 'Ai' 문서만 -&gt; '인공지능' 1위 (동의어 확장)</a:t>
            </a:r>
            <a:endParaRPr 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'프로그래링' -&gt; '혹시 프로그래밍을 찾으셨나요?' (DirectSpellChecker, Damerau-Levenshtein)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Snippet: UnifiedHighlighter + snippetSource 500자 StoredField -&gt; 검색어 주변 맥락 추출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Nori 사용자 사전 158,539개 (open-korean-text Apache 2.0) 적용으로 복합어 보존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sz="800">
                <a:latin typeface="NanumGothic" panose="020D0604000000000000" pitchFamily="34" charset="-127"/>
                <a:ea typeface="NanumGothic" panose="020D0604000000000000" pitchFamily="34" charset="-127"/>
              </a:rPr>
              <a:t>12,156,589건 무중단 재색인 ~2시간 (Directory Swap + SearcherManager 재생성)</a:t>
            </a:r>
          </a:p>
        </p:txBody>
      </p:sp>
      <p:pic>
        <p:nvPicPr>
          <p:cNvPr id="19" name="Picture 8" descr="phase18-before-search-ai.png">
            <a:extLst>
              <a:ext uri="{FF2B5EF4-FFF2-40B4-BE49-F238E27FC236}">
                <a16:creationId xmlns:a16="http://schemas.microsoft.com/office/drawing/2014/main" id="{79E2D775-9252-40D3-9B98-17F7637A9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7379594"/>
            <a:ext cx="3075079" cy="3112615"/>
          </a:xfrm>
          <a:prstGeom prst="rect">
            <a:avLst/>
          </a:prstGeom>
        </p:spPr>
      </p:pic>
      <p:pic>
        <p:nvPicPr>
          <p:cNvPr id="20" name="Picture 9" descr="phase18-after-search-ai.png">
            <a:extLst>
              <a:ext uri="{FF2B5EF4-FFF2-40B4-BE49-F238E27FC236}">
                <a16:creationId xmlns:a16="http://schemas.microsoft.com/office/drawing/2014/main" id="{3BB94345-7B65-56C9-29FE-CBE970E49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181" y="7379594"/>
            <a:ext cx="3162819" cy="3112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B0AE93-C58D-1FF5-EB64-FA376BBAD74D}"/>
              </a:ext>
            </a:extLst>
          </p:cNvPr>
          <p:cNvSpPr txBox="1"/>
          <p:nvPr/>
        </p:nvSpPr>
        <p:spPr>
          <a:xfrm>
            <a:off x="360000" y="7148762"/>
            <a:ext cx="4513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결과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4B9236BC-FEF3-602A-EB07-D517DB8D603D}"/>
              </a:ext>
            </a:extLst>
          </p:cNvPr>
          <p:cNvGrpSpPr/>
          <p:nvPr/>
        </p:nvGrpSpPr>
        <p:grpSpPr>
          <a:xfrm>
            <a:off x="360000" y="184059"/>
            <a:ext cx="6840000" cy="236078"/>
            <a:chOff x="360000" y="357922"/>
            <a:chExt cx="6840000" cy="236078"/>
          </a:xfrm>
        </p:grpSpPr>
        <p:sp>
          <p:nvSpPr>
            <p:cNvPr id="2" name="Rectangle 1"/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32000" y="357922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5. LTR 재랭킹 — XGBoost LambdaMART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000" y="519153"/>
            <a:ext cx="684000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문제 — 수동 가중치의 한계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검색 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 더 헛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스타워즈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프로그래밍 언어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위로 밀립니다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viewCount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모두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0~1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동일하여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BM25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텍스트 스코어만으로 순위가 결정됩니다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Linear Model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ES boosts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와 동일한 선형 회귀이므로 같은 피처로 학습해도 수동 가중치와 거의 동일한 결과가 나옵니다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OpenSource Connections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분석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310914"/>
            <a:ext cx="684000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해결 — LambdaMART + LLM-as-a-Judge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XGBoost LambdaMART (tree model)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는 피처 간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interaction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학습할 수 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titleLength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짧으면서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tagOverlap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높으면 동음이의어 분기 문서라는 비선형 관계를 포착합니다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학습 데이터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사용자 트래픽이 거의 없어 클릭 로그가 없으므로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LLM-as-a-Judge(Gemini)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relevance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판정을 대신합니다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SIGIR 2024 Thomas et al. — GPT-4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relevance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판정이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crowdsource annotator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Cohen Kappa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동등 수준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회 호출 평균 반올림으로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LLM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의 비결정성을 대응합니다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E67E22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차 실행 실패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(98%):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라운드 간 딜레이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초로 분당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30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요청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Gemini 15 RPM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800" b="0">
                <a:solidFill>
                  <a:srgbClr val="E67E22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Spring AI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HTTP 429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NonTransientAiException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분류하여 재시도하지 않았고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ArrayList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메모리 저장이라 실패 미인지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800" b="0">
                <a:solidFill>
                  <a:srgbClr val="E67E22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 딜레이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지수 백오프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CSV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디스크 저장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resume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해결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추론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XGBoost4J (ARM64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네이티브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JAR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번들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inplace_predict thread-safe). Rescorer Top-200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재랭킹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800" b="0">
                <a:solidFill>
                  <a:srgbClr val="94A3B8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14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피처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bm25Title, bm25Content, queryTermCoverage(title/content), exactTitleMatch, titleLength, contentLength, freshnessDays, viewCount, likeCount, tagOverlap, categoryId, queryLength, bm25Snippet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3701312"/>
            <a:ext cx="684000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결과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27AE60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NDCG@10: 0.6910 -&gt; 0.7387 (+4.8%p, 5-Fold CV)    train 0.9228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과적합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—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CV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정직한 수치</a:t>
            </a:r>
          </a:p>
          <a:p>
            <a:pPr>
              <a:spcBef>
                <a:spcPts val="200"/>
              </a:spcBef>
              <a:defRPr sz="900" b="0">
                <a:solidFill>
                  <a:srgbClr val="27AE60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" 1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프로그래밍 언어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   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Feature Importance: titleLength(1.0) &gt; tagOverlap(0.9) &gt; bm25Title(0.8)</a:t>
            </a:r>
          </a:p>
          <a:p>
            <a:pPr>
              <a:spcBef>
                <a:spcPts val="300"/>
              </a:spcBef>
              <a:defRPr sz="900" b="0">
                <a:solidFill>
                  <a:srgbClr val="E74C3C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코어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ARM LTR ON -&gt; 72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 악화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(42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ms-&gt;3,088ms). CPU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완전 포화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LTR_ENABLED=false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비활성화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pic>
        <p:nvPicPr>
          <p:cNvPr id="10" name="Picture 9" descr="phase19-ltr-before-java-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4611291"/>
            <a:ext cx="3240000" cy="3195898"/>
          </a:xfrm>
          <a:prstGeom prst="rect">
            <a:avLst/>
          </a:prstGeom>
        </p:spPr>
      </p:pic>
      <p:pic>
        <p:nvPicPr>
          <p:cNvPr id="11" name="Picture 10" descr="phase19-ltr-after-java-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00" y="4617731"/>
            <a:ext cx="3240000" cy="3172561"/>
          </a:xfrm>
          <a:prstGeom prst="rect">
            <a:avLst/>
          </a:prstGeom>
        </p:spPr>
      </p:pic>
      <p:pic>
        <p:nvPicPr>
          <p:cNvPr id="12" name="Picture 11" descr="phase19-ltr-training-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8014412"/>
            <a:ext cx="6840000" cy="2486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2FAA4450-0C0E-AC01-2D02-E6C8010151D0}"/>
              </a:ext>
            </a:extLst>
          </p:cNvPr>
          <p:cNvGrpSpPr/>
          <p:nvPr/>
        </p:nvGrpSpPr>
        <p:grpSpPr>
          <a:xfrm>
            <a:off x="360000" y="132543"/>
            <a:ext cx="6840000" cy="236078"/>
            <a:chOff x="360000" y="357922"/>
            <a:chExt cx="6840000" cy="236078"/>
          </a:xfrm>
        </p:grpSpPr>
        <p:sp>
          <p:nvSpPr>
            <p:cNvPr id="2" name="Rectangle 1"/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32000" y="357922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6. 카테고리 자동 분류 + Facet 네이티브 전환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000" y="452202"/>
            <a:ext cx="6840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문제 — namespace 카테고리로는 Facet이 무의미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위키 데이터 임포트 시 할당된 카테고리가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일반 문서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97%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편중되어 있어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Facet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을 표시해도 의미가 없었습니다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또한 카테고리 필터링은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Occur.FILTER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절로 구현했지만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Facet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집계는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DB GROUP BY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Top-1,000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건의 근사 집계만 가능했습니다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SortedSetDocValuesFacetField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추가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전체 재색인이 필요했습니다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129310"/>
            <a:ext cx="684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해결 — 28개 주제별 자동 분류 + 1회 재색인으로 통합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키워드 기반 배치 분류 서비스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CategoryClassificationService)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28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주제별 카테고리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컴퓨터 과학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수학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물리학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역사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음악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게임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스포츠 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자동 분류했습니다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90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 수동 검증 결과 정확도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~83% 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애매 항목 제외 시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92%). </a:t>
            </a: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키워드 간 우선순위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/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배타성 로직이 없어 경계 케이스에서 정확도 저하가 있지만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Facet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탐색용으로 충분합니다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회 재색인으로 통합 반영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SortedSetDocValuesFacetField('category', categoryName) — Lucene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네이티브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Facet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TextField('tags', tagNames, Store.YES) — 216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만 고유 태그 검색 가능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Facet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은 고카디널리티로 제거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Nori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사용자 사전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158,539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snippetSource clean text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RefreshListener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기반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SortedSetDocValuesReaderState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캐싱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LUCENE-7905 OrdinalMap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빌드 비용 대응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MultiCollectorManager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TopDocs + FacetsCollector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단일 패스 수집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searcher.search 2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회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-&gt; 1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회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pic>
        <p:nvPicPr>
          <p:cNvPr id="8" name="Picture 7" descr="phase19-after-category-facets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2945192"/>
            <a:ext cx="6840000" cy="355235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658FDA09-14E6-C12C-BD34-786BE90111F5}"/>
              </a:ext>
            </a:extLst>
          </p:cNvPr>
          <p:cNvGrpSpPr/>
          <p:nvPr/>
        </p:nvGrpSpPr>
        <p:grpSpPr>
          <a:xfrm>
            <a:off x="360000" y="6581188"/>
            <a:ext cx="6840000" cy="234000"/>
            <a:chOff x="360000" y="360000"/>
            <a:chExt cx="6840000" cy="234000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59868FC6-1456-31E5-8781-02CE94EB3BC6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661BF5-86CA-7146-871A-5AB0976DC4D8}"/>
                </a:ext>
              </a:extLst>
            </p:cNvPr>
            <p:cNvSpPr txBox="1"/>
            <p:nvPr/>
          </p:nvSpPr>
          <p:spPr>
            <a:xfrm>
              <a:off x="432000" y="370800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7. 콘텐츠 필터링 — 운영 안전장치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7B7A47F-9DE1-CBEE-F884-AC34429968DC}"/>
              </a:ext>
            </a:extLst>
          </p:cNvPr>
          <p:cNvSpPr txBox="1"/>
          <p:nvPr/>
        </p:nvSpPr>
        <p:spPr>
          <a:xfrm>
            <a:off x="360000" y="6898831"/>
            <a:ext cx="6840000" cy="654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문제 — 게시글 작성 API가 열려있고 필터가 없다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defRPr sz="900" b="0">
                <a:solidFill>
                  <a:srgbClr val="1E293B"/>
                </a:solidFill>
              </a:defRPr>
            </a:pPr>
            <a:endParaRPr lang="en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POST /api/v1.0/posts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아무 콘텐츠나 저장 가능합니다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유해 콘텐츠가 검색 결과와 자동완성에 그대로 노출됩니다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k6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부하 테스트에서도 임의 문자열이 게시글로 생성되어 검색 품질을 오염시킵니다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45F07-578E-D1F5-14D3-6DF2236D219B}"/>
              </a:ext>
            </a:extLst>
          </p:cNvPr>
          <p:cNvSpPr txBox="1"/>
          <p:nvPr/>
        </p:nvSpPr>
        <p:spPr>
          <a:xfrm>
            <a:off x="360000" y="7552856"/>
            <a:ext cx="6840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해결 — Aho-Corasick + 블라인드 + Negative Caching</a:t>
            </a: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금칙어 필터링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String.contains()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루프는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O(N*M)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금칙어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16,090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개면 매 텍스트마다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16,090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번 순회합니다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Aho-Corasick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은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 + failure link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텍스트를 한 번만 순회하면서 모든 패턴을 동시 매칭합니다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O(N+Z)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금칙어 수에 무관합니다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한국어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부분 일치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와 영어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Trie(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단어 경계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Scunthorpe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방지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분리하여 운영합니다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블라인드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Occur.MUST_NOT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검색에서 제외합니다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인덱스에서 삭제하면 복원 시 재인덱싱이 필요하지만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blinded=true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필드를 두고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MUST_NOT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필터하면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blinded=false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업데이트만으로 즉시 복원됩니다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Negative Caching: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앱 기동 직후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인덱스 로딩 전에 검색하면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 결과가 캐시됩니다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30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TTL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로 빈 결과를 캐시하되 빠르게 만료시킵니다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빈 결과를 아예 캐시하지 않으면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cache penetration(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동일 쿼리가 매번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origin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까지 관통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이 발생합니다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RFC 2308, AWS CloudFront(negative TTL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기본값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초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참고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200" b="0">
                <a:solidFill>
                  <a:srgbClr val="1E293B"/>
                </a:solidFill>
              </a:defRPr>
            </a:pPr>
            <a:endParaRPr lang="ko-KR" altLang="en-US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자동완성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 fallback: Nori-analyzed title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필드로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PrefixQuery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하면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성매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-&gt;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Nori -&gt; 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성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으로 분해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-&gt; '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성악가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'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등 무관한 결과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title_raw StringField(untokenized)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를 추가하여 원본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prefix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매칭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 descr="phase20-autocomplete-normal-java.png">
            <a:extLst>
              <a:ext uri="{FF2B5EF4-FFF2-40B4-BE49-F238E27FC236}">
                <a16:creationId xmlns:a16="http://schemas.microsoft.com/office/drawing/2014/main" id="{3AFEBC3D-2CD6-F9F8-DD88-A7B33A99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34619"/>
            <a:ext cx="3240000" cy="2316145"/>
          </a:xfrm>
          <a:prstGeom prst="rect">
            <a:avLst/>
          </a:prstGeom>
        </p:spPr>
      </p:pic>
      <p:pic>
        <p:nvPicPr>
          <p:cNvPr id="12" name="Picture 8" descr="phase20-blind-after-test-search.png">
            <a:extLst>
              <a:ext uri="{FF2B5EF4-FFF2-40B4-BE49-F238E27FC236}">
                <a16:creationId xmlns:a16="http://schemas.microsoft.com/office/drawing/2014/main" id="{5294B11E-E0F5-AD5E-576A-B01598EB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000" y="134619"/>
            <a:ext cx="3240000" cy="195352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6ED120-2DA7-38EB-D14B-66229D8D512E}"/>
              </a:ext>
            </a:extLst>
          </p:cNvPr>
          <p:cNvGrpSpPr/>
          <p:nvPr/>
        </p:nvGrpSpPr>
        <p:grpSpPr>
          <a:xfrm>
            <a:off x="360000" y="2508694"/>
            <a:ext cx="6840000" cy="236078"/>
            <a:chOff x="360000" y="357922"/>
            <a:chExt cx="6840000" cy="236078"/>
          </a:xfrm>
        </p:grpSpPr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9C83FDBC-66D9-029D-346E-9B067E0EB2A2}"/>
                </a:ext>
              </a:extLst>
            </p:cNvPr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0E1931-7FAE-6DD8-5B0B-F008B9A2D205}"/>
                </a:ext>
              </a:extLst>
            </p:cNvPr>
            <p:cNvSpPr txBox="1"/>
            <p:nvPr/>
          </p:nvSpPr>
          <p:spPr>
            <a:xfrm>
              <a:off x="432000" y="357922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8. AI 검색 요약 — RAG 파이프라인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48331C2-1A2D-1C38-81B9-6069627C967A}"/>
              </a:ext>
            </a:extLst>
          </p:cNvPr>
          <p:cNvSpPr txBox="1"/>
          <p:nvPr/>
        </p:nvSpPr>
        <p:spPr>
          <a:xfrm>
            <a:off x="360000" y="2827806"/>
            <a:ext cx="684000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8DB8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문제 — 문서 목록만 제공, 직접 답변 불가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0">
                <a:solidFill>
                  <a:srgbClr val="1E293B"/>
                </a:solidFill>
              </a:defRPr>
            </a:pP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기존 검색 결과는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건의 게시글 링크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제목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snippet)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뿐입니다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사용자가 직접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2~3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개 게시글을 클릭해서 읽어야 원하는 답을 찾을 수 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기존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요약 구현은 검색 결과와 무관하게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LLM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에 쿼리만 전달하여 할루시네이션 위험이 높고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출처 인용이 불가능했습니다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E66F78-4FAE-51DB-D437-E4B73A96F444}"/>
              </a:ext>
            </a:extLst>
          </p:cNvPr>
          <p:cNvSpPr txBox="1"/>
          <p:nvPr/>
        </p:nvSpPr>
        <p:spPr>
          <a:xfrm>
            <a:off x="360000" y="3374109"/>
            <a:ext cx="6840000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해결 — BM25 Top-5 -&gt; LLM Context -&gt; SSE 스트리밍</a:t>
            </a:r>
            <a:endParaRPr lang="en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RAG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파이프라인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단계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  1.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Query Understanding —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오타 교정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동의어 확장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이전 구현 재활용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  2.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Retrieval — Lucene BM25 Top-5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문서 검색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3.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Context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구성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— 5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개 문서의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500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자씩 프롬프트에 주입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(~2,000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토큰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  4.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Generation — Spring AI + Gemini 2.0 Flash, SseEmitter + Virtual Thread SSE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스트리밍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5.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Response — AI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답변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 [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문서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N]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인라인 출처 배지 파싱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-&gt;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게시글 링크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BM25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가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Dense Retrieval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보다 적합한가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위키피디아 기술 용어 키워드 검색이 주 패턴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키워드 전용 쿼리에서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BM25 NDCG 0.88 &gt; Dense 0.65. 'AI'-&gt;'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인공지능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수준은 동의어 확장으로 이미 해결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벡터 검색은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환경 오염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'-&gt;'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대기질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같은 의미 검색이 실측 확인되면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Lucene KnnFloatVectorField(HNSW) + Reciprocal Rank Fusion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으로 전환 예정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할루시네이션 방지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시스템 프롬프트에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제공된 문서만 참고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' + [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문서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N]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인용 강제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BM25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스코어 임계값 미만 시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스킵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네비게이션 의도 스킵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spcBef>
                <a:spcPts val="200"/>
              </a:spcBef>
              <a:defRPr sz="300" b="0">
                <a:solidFill>
                  <a:srgbClr val="1E293B"/>
                </a:solidFill>
              </a:defRPr>
            </a:pPr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비용 최적화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Rate Limiting: Redis Lua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스크립트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atomic (INCR+EXPIRE non-atomic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문제 해결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), 10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RPM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전역 공유</a:t>
            </a:r>
          </a:p>
          <a:p>
            <a:pPr>
              <a:spcBef>
                <a:spcPts val="100"/>
              </a:spcBef>
              <a:defRPr sz="800" b="0">
                <a:solidFill>
                  <a:srgbClr val="27AE60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 동일 쿼리 캐싱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Redis TTL 30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분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-&gt;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LLM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비용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40~60%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절감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Gemini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무료 티어 활용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15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RPM, 1,000 RPD.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월 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$0</a:t>
            </a:r>
          </a:p>
          <a:p>
            <a:pPr>
              <a:spcBef>
                <a:spcPts val="100"/>
              </a:spcBef>
              <a:defRPr sz="800" b="0">
                <a:solidFill>
                  <a:srgbClr val="1E293B"/>
                </a:solidFill>
              </a:defRPr>
            </a:pP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 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Grafana 7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패널 대시보드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en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RPM,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응답시간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토큰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피드백</a:t>
            </a:r>
            <a:r>
              <a:rPr lang="en-US" altLang="ko-KR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일별 비용 추정</a:t>
            </a:r>
          </a:p>
        </p:txBody>
      </p:sp>
      <p:pic>
        <p:nvPicPr>
          <p:cNvPr id="18" name="Picture 7" descr="ai-summary-full-with-results.png">
            <a:extLst>
              <a:ext uri="{FF2B5EF4-FFF2-40B4-BE49-F238E27FC236}">
                <a16:creationId xmlns:a16="http://schemas.microsoft.com/office/drawing/2014/main" id="{5627B287-38CD-A452-330D-19C05EF6C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6238995"/>
            <a:ext cx="3240000" cy="3211744"/>
          </a:xfrm>
          <a:prstGeom prst="rect">
            <a:avLst/>
          </a:prstGeom>
        </p:spPr>
      </p:pic>
      <p:pic>
        <p:nvPicPr>
          <p:cNvPr id="19" name="Picture 8" descr="grafana-llm-panels.png">
            <a:extLst>
              <a:ext uri="{FF2B5EF4-FFF2-40B4-BE49-F238E27FC236}">
                <a16:creationId xmlns:a16="http://schemas.microsoft.com/office/drawing/2014/main" id="{045F5679-6481-4AED-7AF6-0AC718F8D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0000" y="6238995"/>
            <a:ext cx="3240000" cy="1223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43A9AF5-0F16-1D22-DC2A-6210584A7EFC}"/>
              </a:ext>
            </a:extLst>
          </p:cNvPr>
          <p:cNvGrpSpPr/>
          <p:nvPr/>
        </p:nvGrpSpPr>
        <p:grpSpPr>
          <a:xfrm>
            <a:off x="360000" y="145422"/>
            <a:ext cx="6840000" cy="236078"/>
            <a:chOff x="360000" y="357922"/>
            <a:chExt cx="6840000" cy="236078"/>
          </a:xfrm>
        </p:grpSpPr>
        <p:sp>
          <p:nvSpPr>
            <p:cNvPr id="2" name="Rectangle 1"/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32000" y="357922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9. 실패와 교훈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60000" y="474139"/>
            <a:ext cx="6840000" cy="704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1. LTR ON 시 72배 성능 악화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Rescore window 200에서 문서당 14개 피처 추출이 CPU-intensive합니다.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BM25 3필드 x 200문서 = 600회 Scorer 생성 + Nori 토큰화 200문서 x 3회 = 600회+ 형태소 분석. 100 VU 동시 요청 시 2코어 ARM에서 CPU 완전 포화 -&gt; queueing avalanche -&gt; LTR 무관 API(자동완성, 목록 조회)까지 동반 악화.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App CPU 피크 160% (2코어 중 80%+80%), Load Average 60.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교훈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기능 검증과 프로덕션 적용은 별개입니다.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현업에서는 피처를 인덱스 타임에 사전 계산(stored field)하거나, 피처 캐싱, 전용 다코어 서버에서 LTR을 처리합니다.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LTR_ENABLED=false로 비활성화하고 인프라 확장 시 재활성화 예정.</a:t>
            </a:r>
          </a:p>
          <a:p>
            <a:pPr>
              <a:spcBef>
                <a:spcPts val="200"/>
              </a:spcBef>
              <a:defRPr sz="4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2. LLM 학습 데이터 생성 98% 실패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라운드 간 딜레이 2초로 3회 호출이 ~6초, 분당 30요청으로 Gemini 15 RPM 초과.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Spring AI 기본 retry가 HTTP 429를 NonTransientAiException(4xx)으로 분류하여 재시도하지 않았습니다.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데이터가 메모리 전용(ArrayList)이라 status API에 성공/실패 구분이 없어 98% 실패를 인지하지 못했습니다.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교훈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외부 API rate limit을 정확히 계산(15 RPM -&gt; 5초 간격 = 12 RPM).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데이터는 즉시 디스크 저장(CSV append + flush).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status API에 성공/실패 분리 필수. resume 기능(완료된 건 건너뛰기)으로 crash-safe.</a:t>
            </a:r>
          </a:p>
          <a:p>
            <a:pPr>
              <a:spcBef>
                <a:spcPts val="200"/>
              </a:spcBef>
              <a:defRPr sz="4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3. CDC 배포 후 검색 미반영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멀티 인스턴스 환경에서 CDC Consumer와 Lucene IndexWriter의 위치 불일치.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App 2(Kafka와 같은 서버)에서 CDC Consumer가 이벤트를 수신했지만, App 2는 Lucene Replica(IndexWriter가 null)라 인덱싱이 skip.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App 1은 docker-compose에서 SPRING_KAFKA_BOOTSTRAP_SERVERS 환경변수 매핑이 빠져 Kafka 연결 자체가 실패.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교훈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임베디드 검색 인덱스는 분산 환경에서 Consumer-Writer 위치 보장이 어렵습니다.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CDC 파이프라인은 end-to-end 검증 테스트가 필수입니다.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이 경험에서 검색 인덱스가 앱에 embedded 되지 않는 이유를 체감했습니다.</a:t>
            </a:r>
          </a:p>
          <a:p>
            <a:pPr>
              <a:spcBef>
                <a:spcPts val="200"/>
              </a:spcBef>
              <a:defRPr sz="4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4. Flyway 마이그레이션 Replica 미전파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MySQL Replication이 끊겨 DDL이 Replica에 전파되지 않았습니다.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ddl-auto:validate(운영)와 update(로컬)의 차이로, 로컬에서는 자동 처리되던 스키마 변경이 운영에서 실패했습니다.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ai_summary_feedback 테이블과 blinded 컬럼이 Replica에 없어 읽기 쿼리가 전부 실패.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교훈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배포 전 Replication 상태 + Flyway 마이그레이션 체크리스트 필수. docker-compose environment 블록에 새 환경변수 추가 누락 방지.</a:t>
            </a:r>
          </a:p>
          <a:p>
            <a:pPr>
              <a:spcBef>
                <a:spcPts val="200"/>
              </a:spcBef>
              <a:defRPr sz="400" b="0">
                <a:solidFill>
                  <a:srgbClr val="1E293B"/>
                </a:solidFill>
              </a:defRPr>
            </a:pPr>
            <a:endParaRPr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400"/>
              </a:spcBef>
              <a:defRPr sz="1000" b="1">
                <a:solidFill>
                  <a:srgbClr val="E67E22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5. snippetSource에 raw 위키 마크업 저장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위키 마크업([include(틀:XXX)], {{생물 분류}} 등)이 stored field에 그대로 저장.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UnifiedHighlighter가 마크업 토큰에서 offset 불일치 -&gt; 빈 snippet 반환.</a:t>
            </a: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 b="1">
                <a:latin typeface="NanumGothic" panose="020D0604000000000000" pitchFamily="34" charset="-127"/>
                <a:ea typeface="NanumGothic" panose="020D0604000000000000" pitchFamily="34" charset="-127"/>
              </a:rPr>
              <a:t>교훈</a:t>
            </a:r>
            <a:endParaRPr lang="en-US" b="1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raw 데이터를 stored field에 저장하는 것은 안티패턴입니다. 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Wikipedia CirrusSearch 패턴: source_text(raw)와 text(clean)을 별도 필드로 관리.</a:t>
            </a:r>
            <a:endParaRPr 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200"/>
              </a:spcBef>
              <a:defRPr sz="800" b="0">
                <a:solidFill>
                  <a:srgbClr val="1E293B"/>
                </a:solidFill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인덱스 타임에 마크업을 정제한 clean text를 저장합니다.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79C81-9B87-4C84-F8E6-9C58839D386D}"/>
              </a:ext>
            </a:extLst>
          </p:cNvPr>
          <p:cNvGrpSpPr/>
          <p:nvPr/>
        </p:nvGrpSpPr>
        <p:grpSpPr>
          <a:xfrm>
            <a:off x="360000" y="89813"/>
            <a:ext cx="6840000" cy="234000"/>
            <a:chOff x="360000" y="360000"/>
            <a:chExt cx="6840000" cy="234000"/>
          </a:xfrm>
        </p:grpSpPr>
        <p:sp>
          <p:nvSpPr>
            <p:cNvPr id="2" name="Rectangle 1"/>
            <p:cNvSpPr/>
            <p:nvPr/>
          </p:nvSpPr>
          <p:spPr>
            <a:xfrm>
              <a:off x="360000" y="360000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32000" y="370800"/>
              <a:ext cx="6480000" cy="19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t>최종 아키텍처 + 핵심 수치</a:t>
              </a:r>
            </a:p>
          </p:txBody>
        </p:sp>
      </p:grpSp>
      <p:pic>
        <p:nvPicPr>
          <p:cNvPr id="4" name="Picture 3" descr="wikiengine-architecture.png"/>
          <p:cNvPicPr>
            <a:picLocks noChangeAspect="1"/>
          </p:cNvPicPr>
          <p:nvPr/>
        </p:nvPicPr>
        <p:blipFill>
          <a:blip r:embed="rId2"/>
          <a:srcRect r="24017" b="9295"/>
          <a:stretch>
            <a:fillRect/>
          </a:stretch>
        </p:blipFill>
        <p:spPr>
          <a:xfrm>
            <a:off x="360000" y="416180"/>
            <a:ext cx="5197234" cy="4239533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FC4C8DC-9AC5-92AE-F331-2594F6DCC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427205"/>
              </p:ext>
            </p:extLst>
          </p:nvPr>
        </p:nvGraphicFramePr>
        <p:xfrm>
          <a:off x="432000" y="4886545"/>
          <a:ext cx="589883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375">
                  <a:extLst>
                    <a:ext uri="{9D8B030D-6E8A-4147-A177-3AD203B41FA5}">
                      <a16:colId xmlns:a16="http://schemas.microsoft.com/office/drawing/2014/main" val="3575667553"/>
                    </a:ext>
                  </a:extLst>
                </a:gridCol>
                <a:gridCol w="1416676">
                  <a:extLst>
                    <a:ext uri="{9D8B030D-6E8A-4147-A177-3AD203B41FA5}">
                      <a16:colId xmlns:a16="http://schemas.microsoft.com/office/drawing/2014/main" val="1435176828"/>
                    </a:ext>
                  </a:extLst>
                </a:gridCol>
                <a:gridCol w="1751527">
                  <a:extLst>
                    <a:ext uri="{9D8B030D-6E8A-4147-A177-3AD203B41FA5}">
                      <a16:colId xmlns:a16="http://schemas.microsoft.com/office/drawing/2014/main" val="1659378891"/>
                    </a:ext>
                  </a:extLst>
                </a:gridCol>
                <a:gridCol w="1674253">
                  <a:extLst>
                    <a:ext uri="{9D8B030D-6E8A-4147-A177-3AD203B41FA5}">
                      <a16:colId xmlns:a16="http://schemas.microsoft.com/office/drawing/2014/main" val="144681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Before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After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측정조건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8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본문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LIKE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타임아웃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(5,000ms+)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Lucene BM25 29ms (P95 100ms)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EXPLAIN rows=27,443,742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07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B-Tree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자동완성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LIKE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타임아웃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(5,000ms+)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8ms (rows 27.44M -&gt; 1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스캔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복합 인덱스 </a:t>
                      </a:r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idx_title_viewcount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516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FULLTEXT ngram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12,766ms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8ms (rows 27.44M -&gt; 1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스캔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57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만건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인덱스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6.7</a:t>
                      </a:r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GB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47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Redis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자동완성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Trie DFS 5ms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Redis GET 11ms (P95 68ms)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flat KV O(1), 5,000 prefix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95447"/>
                  </a:ext>
                </a:extLst>
              </a:tr>
              <a:tr h="1916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캐시 전체 응답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776ms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54ms (14.4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배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Caffeine 99.9%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히트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082365"/>
                  </a:ext>
                </a:extLst>
              </a:tr>
              <a:tr h="1431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L1+L2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히트율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0%(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캐시 없음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82% (L1 73% + L2 9%)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Origin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도달률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19%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21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Redis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메모리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73MB / 256MB (28.4%) 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Eviction 0, Lettuce P95 2.5ms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98876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1465CC8-48E3-A76B-B6A0-45C5EAC66F23}"/>
              </a:ext>
            </a:extLst>
          </p:cNvPr>
          <p:cNvSpPr txBox="1"/>
          <p:nvPr/>
        </p:nvSpPr>
        <p:spPr>
          <a:xfrm>
            <a:off x="360000" y="4655713"/>
            <a:ext cx="54767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/>
              <a:t>검색 성능 </a:t>
            </a:r>
            <a:r>
              <a:rPr lang="en-US" altLang="ko-KR"/>
              <a:t>(</a:t>
            </a:r>
            <a:r>
              <a:rPr lang="en" altLang="ko-KR"/>
              <a:t>k6 </a:t>
            </a:r>
            <a:r>
              <a:rPr lang="ko-KR" altLang="en-US"/>
              <a:t>부하 테스트 실측</a:t>
            </a:r>
            <a:r>
              <a:rPr lang="en-US" altLang="ko-KR"/>
              <a:t>)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0E7892E-DAB5-154C-A5A8-E6B9176FC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18125"/>
              </p:ext>
            </p:extLst>
          </p:nvPr>
        </p:nvGraphicFramePr>
        <p:xfrm>
          <a:off x="402413" y="7926768"/>
          <a:ext cx="6127176" cy="217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386">
                  <a:extLst>
                    <a:ext uri="{9D8B030D-6E8A-4147-A177-3AD203B41FA5}">
                      <a16:colId xmlns:a16="http://schemas.microsoft.com/office/drawing/2014/main" val="1154108006"/>
                    </a:ext>
                  </a:extLst>
                </a:gridCol>
                <a:gridCol w="1571494">
                  <a:extLst>
                    <a:ext uri="{9D8B030D-6E8A-4147-A177-3AD203B41FA5}">
                      <a16:colId xmlns:a16="http://schemas.microsoft.com/office/drawing/2014/main" val="2458889649"/>
                    </a:ext>
                  </a:extLst>
                </a:gridCol>
                <a:gridCol w="2099256">
                  <a:extLst>
                    <a:ext uri="{9D8B030D-6E8A-4147-A177-3AD203B41FA5}">
                      <a16:colId xmlns:a16="http://schemas.microsoft.com/office/drawing/2014/main" val="2424648592"/>
                    </a:ext>
                  </a:extLst>
                </a:gridCol>
                <a:gridCol w="1378040">
                  <a:extLst>
                    <a:ext uri="{9D8B030D-6E8A-4147-A177-3AD203B41FA5}">
                      <a16:colId xmlns:a16="http://schemas.microsoft.com/office/drawing/2014/main" val="4128714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단일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분산</a:t>
                      </a:r>
                      <a:r>
                        <a:rPr lang="en-US" altLang="ko-KR" sz="700"/>
                        <a:t>(2</a:t>
                      </a:r>
                      <a:r>
                        <a:rPr lang="ko-KR" altLang="en-US" sz="700"/>
                        <a:t> </a:t>
                      </a:r>
                      <a:r>
                        <a:rPr lang="en-US" altLang="ko-KR" sz="700"/>
                        <a:t>App)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변화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056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에러율</a:t>
                      </a:r>
                      <a:r>
                        <a:rPr lang="en-US" altLang="ko-KR" sz="700"/>
                        <a:t>(</a:t>
                      </a:r>
                      <a:r>
                        <a:rPr lang="ko-KR" altLang="en-US" sz="700"/>
                        <a:t>쿼리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32.53%(COUNT* </a:t>
                      </a:r>
                      <a:r>
                        <a:rPr lang="ko-KR" altLang="en-US" sz="700"/>
                        <a:t>타임아웃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0%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Page -&gt; Slice </a:t>
                      </a:r>
                      <a:r>
                        <a:rPr lang="ko-KR" altLang="en-US" sz="700"/>
                        <a:t>전환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7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에러율</a:t>
                      </a:r>
                      <a:r>
                        <a:rPr lang="en-US" altLang="ko-KR" sz="700"/>
                        <a:t>(</a:t>
                      </a:r>
                      <a:r>
                        <a:rPr lang="ko-KR" altLang="en-US" sz="700"/>
                        <a:t>부하 </a:t>
                      </a:r>
                      <a:r>
                        <a:rPr lang="en-US" altLang="ko-KR" sz="700"/>
                        <a:t>100VU)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13.25%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0%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스케일 아웃 효과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18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에러율</a:t>
                      </a:r>
                      <a:r>
                        <a:rPr lang="en-US" altLang="ko-KR" sz="700"/>
                        <a:t>(</a:t>
                      </a:r>
                      <a:r>
                        <a:rPr lang="ko-KR" altLang="en-US" sz="700"/>
                        <a:t>부하 </a:t>
                      </a:r>
                      <a:r>
                        <a:rPr lang="en-US" altLang="ko-KR" sz="700"/>
                        <a:t>200VU)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-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0.09%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MySQL/Redis/Kafka </a:t>
                      </a:r>
                      <a:r>
                        <a:rPr lang="ko-KR" altLang="en-US" sz="700"/>
                        <a:t>여유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57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평균 응답</a:t>
                      </a:r>
                      <a:r>
                        <a:rPr lang="en-US" altLang="ko-KR" sz="700"/>
                        <a:t>(100VU)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482ms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37ms (92% </a:t>
                      </a:r>
                      <a:r>
                        <a:rPr lang="ko-KR" altLang="en-US" sz="700"/>
                        <a:t>감소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Nginx least_conn + App 2</a:t>
                      </a:r>
                      <a:r>
                        <a:rPr lang="ko-KR" altLang="en-US" sz="700"/>
                        <a:t>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87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P95(100VU)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2,300ms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190ms (12</a:t>
                      </a:r>
                      <a:r>
                        <a:rPr lang="ko-KR" altLang="en-US" sz="700"/>
                        <a:t>배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SLA 300ms </a:t>
                      </a:r>
                      <a:r>
                        <a:rPr lang="ko-KR" altLang="en-US" sz="700"/>
                        <a:t>충족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54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처리량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~30 req/s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109 req/s (3.6</a:t>
                      </a:r>
                      <a:r>
                        <a:rPr lang="ko-KR" altLang="en-US" sz="700"/>
                        <a:t>배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피크 기준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930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상세조회 에러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11.10%(DB UPDATE </a:t>
                      </a:r>
                      <a:r>
                        <a:rPr lang="ko-KR" altLang="en-US" sz="700"/>
                        <a:t>충돌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0%</a:t>
                      </a:r>
                      <a:r>
                        <a:rPr lang="ko-KR" altLang="en-US" sz="700"/>
                        <a:t> </a:t>
                      </a:r>
                      <a:r>
                        <a:rPr lang="en-US" altLang="ko-KR" sz="700"/>
                        <a:t>(Redis INCR)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Write-Behind 30</a:t>
                      </a:r>
                      <a:r>
                        <a:rPr lang="ko-KR" altLang="en-US" sz="700"/>
                        <a:t>초 배치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741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/>
                        <a:t>게시글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5,315ms(dual-write)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33ms (CDC, 160</a:t>
                      </a:r>
                      <a:r>
                        <a:rPr lang="ko-KR" altLang="en-US" sz="700"/>
                        <a:t>배</a:t>
                      </a:r>
                      <a:r>
                        <a:rPr lang="en-US" altLang="ko-KR" sz="700"/>
                        <a:t>)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Debezium+Kafka</a:t>
                      </a:r>
                      <a:endParaRPr lang="ko-KR" altLang="en-US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77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KEYS</a:t>
                      </a:r>
                      <a:r>
                        <a:rPr lang="ko-KR" altLang="en-US" sz="700"/>
                        <a:t> 블로킹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34.6ms SLOWLOG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SCAN </a:t>
                      </a:r>
                      <a:r>
                        <a:rPr lang="ko-KR" altLang="en-US" sz="700"/>
                        <a:t>전환 </a:t>
                      </a:r>
                      <a:r>
                        <a:rPr lang="en-US" altLang="ko-KR" sz="700"/>
                        <a:t>+</a:t>
                      </a:r>
                      <a:r>
                        <a:rPr lang="ko-KR" altLang="en-US" sz="700"/>
                        <a:t> </a:t>
                      </a:r>
                      <a:r>
                        <a:rPr lang="en-US" altLang="ko-KR" sz="700"/>
                        <a:t>3</a:t>
                      </a:r>
                      <a:r>
                        <a:rPr lang="ko-KR" altLang="en-US" sz="700"/>
                        <a:t>노드 격리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GET worst 15.5ms </a:t>
                      </a:r>
                      <a:r>
                        <a:rPr lang="ko-KR" altLang="en-US" sz="700"/>
                        <a:t>해소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640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Replication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-</a:t>
                      </a:r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Primary 50ops/s, Replica 200ops/s Lag0~1</a:t>
                      </a:r>
                      <a:r>
                        <a:rPr lang="ko-KR" altLang="en-US" sz="700"/>
                        <a:t>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/>
                        <a:t>GTID </a:t>
                      </a:r>
                      <a:r>
                        <a:rPr lang="ko-KR" altLang="en-US" sz="700"/>
                        <a:t>비동기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8541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3E86D3-E778-0946-EF84-68FDF1063BF6}"/>
              </a:ext>
            </a:extLst>
          </p:cNvPr>
          <p:cNvSpPr txBox="1"/>
          <p:nvPr/>
        </p:nvSpPr>
        <p:spPr>
          <a:xfrm>
            <a:off x="360000" y="7695936"/>
            <a:ext cx="51934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/>
              <a:t>분산 아키텍처 </a:t>
            </a:r>
            <a:r>
              <a:rPr lang="en-US" altLang="ko-KR"/>
              <a:t>(</a:t>
            </a:r>
            <a:r>
              <a:rPr lang="en" altLang="ko-KR"/>
              <a:t>k6 stress 200 VU, 25</a:t>
            </a:r>
            <a:r>
              <a:rPr lang="ko-KR" altLang="en-US"/>
              <a:t>분</a:t>
            </a:r>
            <a:r>
              <a:rPr lang="en-US" altLang="ko-KR"/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9FF73A-99E3-48F7-0F4A-F2D9F978F0CE}"/>
              </a:ext>
            </a:extLst>
          </p:cNvPr>
          <p:cNvSpPr txBox="1"/>
          <p:nvPr/>
        </p:nvSpPr>
        <p:spPr>
          <a:xfrm>
            <a:off x="402413" y="6607057"/>
            <a:ext cx="69964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레디스 히트율이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80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퍼대로 낮은 이유는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K6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가 캐시 미스를 유발하는 시나리오를 포함하기 때문입니다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쿼리 다양성 — 46개 키워드 × 16페이지(0~15) × 카테고리 조합 = 수천 개의 고유 캐시 키 생성. 같은 키워드여도 페이지가 다르면 다른 캐시 키.                 </a:t>
            </a: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- 희귀 토큰 10% — "페텔", "quaternion" 같은 검색은 테스트 중 1~2번만 호출되어 캐시에 올라가자마자 다시 안 쓰임.</a:t>
            </a:r>
          </a:p>
          <a:p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 페이지 분산 — 실제 사용자는 대부분 page=0만 보지만, k6는 page=0~15를 랜덤으로 호출. </a:t>
            </a:r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US" altLang="ko-KR" sz="80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실 트래픽에서는 Zipfian 분포(상위 20% 쿼리가 트래픽의 80%)로 인기 키워드 + page=0에 집중되기 때문에 히트율이 90%+ 이상으로 올라갑니다.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9A76D-7573-F602-EDC3-EBD1C06E9417}"/>
              </a:ext>
            </a:extLst>
          </p:cNvPr>
          <p:cNvSpPr txBox="1"/>
          <p:nvPr/>
        </p:nvSpPr>
        <p:spPr>
          <a:xfrm>
            <a:off x="332249" y="165089"/>
            <a:ext cx="6632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검색 품질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E0B0F1-5A42-FEF2-C02B-802739501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54157"/>
              </p:ext>
            </p:extLst>
          </p:nvPr>
        </p:nvGraphicFramePr>
        <p:xfrm>
          <a:off x="332249" y="395921"/>
          <a:ext cx="693638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183">
                  <a:extLst>
                    <a:ext uri="{9D8B030D-6E8A-4147-A177-3AD203B41FA5}">
                      <a16:colId xmlns:a16="http://schemas.microsoft.com/office/drawing/2014/main" val="1766839291"/>
                    </a:ext>
                  </a:extLst>
                </a:gridCol>
                <a:gridCol w="1236372">
                  <a:extLst>
                    <a:ext uri="{9D8B030D-6E8A-4147-A177-3AD203B41FA5}">
                      <a16:colId xmlns:a16="http://schemas.microsoft.com/office/drawing/2014/main" val="2387588984"/>
                    </a:ext>
                  </a:extLst>
                </a:gridCol>
                <a:gridCol w="2826912">
                  <a:extLst>
                    <a:ext uri="{9D8B030D-6E8A-4147-A177-3AD203B41FA5}">
                      <a16:colId xmlns:a16="http://schemas.microsoft.com/office/drawing/2014/main" val="2206217917"/>
                    </a:ext>
                  </a:extLst>
                </a:gridCol>
                <a:gridCol w="1815922">
                  <a:extLst>
                    <a:ext uri="{9D8B030D-6E8A-4147-A177-3AD203B41FA5}">
                      <a16:colId xmlns:a16="http://schemas.microsoft.com/office/drawing/2014/main" val="29114988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Before</a:t>
                      </a:r>
                      <a:endParaRPr lang="ko-KR" altLang="en-US" sz="8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After</a:t>
                      </a:r>
                      <a:endParaRPr lang="ko-KR" altLang="en-US" sz="8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707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P@10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0.827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0.853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PhraseQuery(slop=2) + FeatureField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940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NDCG@10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0.6910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LTR (5-Fold CV): 0.7387 (±0.04) — BM25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대비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+4.8%p</a:t>
                      </a:r>
                      <a:r>
                        <a:rPr lang="en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LTR (train set): 0.9228 (+23.2%p —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과적합 반영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참고용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XGBoost LambdaMART 14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피처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584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AI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영문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Ai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문서만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‘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인공지능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’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DB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동의어 쿼리 타임 확장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오타 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결과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‘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프로그래밍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’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제안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DirectSpellChecker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편집거리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54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Snippet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앞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무관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검색어 주변 맥락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UnifiedHighlighter 500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StoredField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88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Facet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카테고리 전체 집계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SortedSetDocValuesFacetCounts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786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카테고리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Namespace(97%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편중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28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주제별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(83%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정확도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키워드 기반 배치 분류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검증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844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금칙어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16,090(KO 3,904+EN 12,996)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Aho-Corasick O(N+Z)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002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AI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RAG + SSE +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출처 링크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Gemini 15 RPM,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캐시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30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TTL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39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검색 최종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(Facet+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태그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548ms (P95.261s)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인덱스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42GB , Nori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사전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158K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67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LTR ON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한계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3,088(72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배 악화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코어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ARM CPU 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포화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-&gt;</a:t>
                      </a:r>
                      <a:r>
                        <a:rPr lang="ko-KR" altLang="en-US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7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OFF</a:t>
                      </a:r>
                      <a:endParaRPr lang="ko-KR" altLang="en-US" sz="7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123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9A9DB9-724D-2154-62C1-674F909F3E7F}"/>
              </a:ext>
            </a:extLst>
          </p:cNvPr>
          <p:cNvSpPr txBox="1"/>
          <p:nvPr/>
        </p:nvSpPr>
        <p:spPr>
          <a:xfrm>
            <a:off x="332249" y="3068384"/>
            <a:ext cx="5964035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ko-KR" altLang="en-US">
                <a:latin typeface="NanumGothic" panose="020D0604000000000000" pitchFamily="34" charset="-127"/>
                <a:ea typeface="NanumGothic" panose="020D0604000000000000" pitchFamily="34" charset="-127"/>
              </a:rPr>
              <a:t>인프라 규모</a:t>
            </a:r>
            <a:endParaRPr lang="en-US" altLang="ko-KR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spcBef>
                <a:spcPts val="300"/>
              </a:spcBef>
              <a:defRPr sz="900" b="1">
                <a:solidFill>
                  <a:srgbClr val="4A8DB8"/>
                </a:solidFill>
              </a:defRPr>
            </a:pP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Lucene 42GB(5seg) | 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재색인 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~2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 | Nori 158,539 | Redis 3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노드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(4,620</a:t>
            </a:r>
            <a:r>
              <a:rPr lang="ko-KR" altLang="en-US" sz="800">
                <a:latin typeface="NanumGothic" panose="020D0604000000000000" pitchFamily="34" charset="-127"/>
                <a:ea typeface="NanumGothic" panose="020D0604000000000000" pitchFamily="34" charset="-127"/>
              </a:rPr>
              <a:t>키</a:t>
            </a:r>
            <a:r>
              <a:rPr lang="en-US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) | </a:t>
            </a:r>
            <a:r>
              <a:rPr lang="en" altLang="ko-KR" sz="800">
                <a:latin typeface="NanumGothic" panose="020D0604000000000000" pitchFamily="34" charset="-127"/>
                <a:ea typeface="NanumGothic" panose="020D0604000000000000" pitchFamily="34" charset="-127"/>
              </a:rPr>
              <a:t>HikariCP 5+15 | Kafka KRaft+DLQ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2C6FE-1B59-A658-1836-DFC4A393F98E}"/>
              </a:ext>
            </a:extLst>
          </p:cNvPr>
          <p:cNvSpPr txBox="1"/>
          <p:nvPr/>
        </p:nvSpPr>
        <p:spPr>
          <a:xfrm>
            <a:off x="360001" y="3649291"/>
            <a:ext cx="2585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93B"/>
                </a:solidFill>
              </a:defRPr>
            </a:pPr>
            <a:r>
              <a:rPr lang="en-US" altLang="ko-KR"/>
              <a:t>2</a:t>
            </a:r>
            <a:r>
              <a:rPr lang="en-US"/>
              <a:t>. EDDGate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E8643-5211-D155-F369-19AD9B9488B5}"/>
              </a:ext>
            </a:extLst>
          </p:cNvPr>
          <p:cNvSpPr txBox="1"/>
          <p:nvPr/>
        </p:nvSpPr>
        <p:spPr>
          <a:xfrm>
            <a:off x="432001" y="4250132"/>
            <a:ext cx="58642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4A8DB8"/>
                </a:solidFill>
              </a:defRPr>
            </a:pPr>
            <a:r>
              <a:rPr lang="en" altLang="ko-KR"/>
              <a:t>Self-improving Evaluation Loop</a:t>
            </a:r>
            <a:r>
              <a:rPr lang="ko-KR" altLang="en-US"/>
              <a:t> </a:t>
            </a:r>
            <a:r>
              <a:rPr lang="en" altLang="ko-KR"/>
              <a:t>for LLM Workflows</a:t>
            </a:r>
            <a:r>
              <a:t>RAG</a:t>
            </a:r>
            <a:endParaRPr lang="en-US"/>
          </a:p>
          <a:p>
            <a:pPr>
              <a:defRPr sz="2000" b="0">
                <a:solidFill>
                  <a:srgbClr val="4A8DB8"/>
                </a:solidFill>
              </a:defRPr>
            </a:pPr>
            <a:r>
              <a:rPr lang="en"/>
              <a:t>LLM WorkflowRAG</a:t>
            </a:r>
            <a:r>
              <a:rPr lang="ko-KR" altLang="en-US"/>
              <a:t>을 위한 자가 개선 평가 루프</a:t>
            </a:r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983743D-51B4-E184-D8C6-3E30148A1516}"/>
              </a:ext>
            </a:extLst>
          </p:cNvPr>
          <p:cNvGrpSpPr/>
          <p:nvPr/>
        </p:nvGrpSpPr>
        <p:grpSpPr>
          <a:xfrm>
            <a:off x="360000" y="5084296"/>
            <a:ext cx="6840000" cy="261610"/>
            <a:chOff x="360000" y="3002178"/>
            <a:chExt cx="6840000" cy="261610"/>
          </a:xfrm>
        </p:grpSpPr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E0DF3E27-655A-F3A8-BE7E-747AD40A8ABD}"/>
                </a:ext>
              </a:extLst>
            </p:cNvPr>
            <p:cNvSpPr/>
            <p:nvPr/>
          </p:nvSpPr>
          <p:spPr>
            <a:xfrm>
              <a:off x="360000" y="3002178"/>
              <a:ext cx="6840000" cy="234000"/>
            </a:xfrm>
            <a:prstGeom prst="rect">
              <a:avLst/>
            </a:prstGeom>
            <a:solidFill>
              <a:srgbClr val="4A8D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ED279D-27C8-41F5-6975-E2D8FB6CDB04}"/>
                </a:ext>
              </a:extLst>
            </p:cNvPr>
            <p:cNvSpPr txBox="1"/>
            <p:nvPr/>
          </p:nvSpPr>
          <p:spPr>
            <a:xfrm>
              <a:off x="432000" y="3002178"/>
              <a:ext cx="64800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100" b="1">
                  <a:solidFill>
                    <a:srgbClr val="FFFFFF"/>
                  </a:solidFill>
                </a:defRPr>
              </a:pPr>
              <a:r>
                <a:rPr>
                  <a:latin typeface="NanumGothic" panose="020D0604000000000000" pitchFamily="34" charset="-127"/>
                  <a:ea typeface="NanumGothic" panose="020D0604000000000000" pitchFamily="34" charset="-127"/>
                </a:rPr>
                <a:t>프로젝트 개요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BE74DA0-C0F0-52BA-A262-CBB6DB415BA0}"/>
              </a:ext>
            </a:extLst>
          </p:cNvPr>
          <p:cNvSpPr txBox="1"/>
          <p:nvPr/>
        </p:nvSpPr>
        <p:spPr>
          <a:xfrm>
            <a:off x="360000" y="5472184"/>
            <a:ext cx="5665415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900" b="1">
                <a:solidFill>
                  <a:srgbClr val="4B8DB8"/>
                </a:solidFill>
              </a:rPr>
              <a:t>기존 환경</a:t>
            </a:r>
            <a:endParaRPr kumimoji="1" lang="en-US" altLang="ko-KR" sz="900" b="1">
              <a:solidFill>
                <a:srgbClr val="4B8DB8"/>
              </a:solidFill>
            </a:endParaRPr>
          </a:p>
          <a:p>
            <a:r>
              <a:rPr kumimoji="1" lang="en-US" altLang="ko-KR" sz="800"/>
              <a:t>Claude</a:t>
            </a:r>
            <a:r>
              <a:rPr kumimoji="1" lang="ko-KR" altLang="en-US" sz="800"/>
              <a:t>로 기술 문서를 생성하는 작업을 반복 수행했습니다</a:t>
            </a:r>
            <a:r>
              <a:rPr kumimoji="1" lang="en-US" altLang="ko-KR" sz="800"/>
              <a:t>.</a:t>
            </a:r>
          </a:p>
          <a:p>
            <a:r>
              <a:rPr kumimoji="1" lang="ko-KR" altLang="en-US" sz="800"/>
              <a:t>입력 </a:t>
            </a:r>
            <a:r>
              <a:rPr kumimoji="1" lang="en-US" altLang="ko-KR" sz="800"/>
              <a:t>:</a:t>
            </a:r>
            <a:r>
              <a:rPr kumimoji="1" lang="ko-KR" altLang="en-US" sz="800"/>
              <a:t> 원문 텍스트</a:t>
            </a:r>
            <a:r>
              <a:rPr kumimoji="1" lang="en-US" altLang="ko-KR" sz="800"/>
              <a:t>,</a:t>
            </a:r>
            <a:r>
              <a:rPr kumimoji="1" lang="ko-KR" altLang="en-US" sz="800"/>
              <a:t>  프롬프트나 정책 문서</a:t>
            </a:r>
            <a:r>
              <a:rPr kumimoji="1" lang="en-US" altLang="ko-KR" sz="800"/>
              <a:t>,</a:t>
            </a:r>
            <a:r>
              <a:rPr kumimoji="1" lang="ko-KR" altLang="en-US" sz="800"/>
              <a:t> 요구사항</a:t>
            </a:r>
            <a:endParaRPr kumimoji="1" lang="en-US" altLang="ko-KR" sz="800"/>
          </a:p>
          <a:p>
            <a:r>
              <a:rPr kumimoji="1" lang="ko-KR" altLang="en-US" sz="800"/>
              <a:t>처리 </a:t>
            </a:r>
            <a:r>
              <a:rPr kumimoji="1" lang="en-US" altLang="ko-KR" sz="800"/>
              <a:t>:</a:t>
            </a:r>
            <a:r>
              <a:rPr kumimoji="1" lang="ko-KR" altLang="en-US" sz="800"/>
              <a:t> </a:t>
            </a:r>
            <a:r>
              <a:rPr kumimoji="1" lang="en-US" altLang="ko-KR" sz="800"/>
              <a:t>LLM</a:t>
            </a:r>
            <a:r>
              <a:rPr kumimoji="1" lang="ko-KR" altLang="en-US" sz="800"/>
              <a:t>이 분류 </a:t>
            </a:r>
            <a:r>
              <a:rPr kumimoji="1" lang="en-US" altLang="ko-KR" sz="800"/>
              <a:t>-&gt;</a:t>
            </a:r>
            <a:r>
              <a:rPr kumimoji="1" lang="ko-KR" altLang="en-US" sz="800"/>
              <a:t> 검색 </a:t>
            </a:r>
            <a:r>
              <a:rPr kumimoji="1" lang="en-US" altLang="ko-KR" sz="800"/>
              <a:t>-&gt;</a:t>
            </a:r>
            <a:r>
              <a:rPr kumimoji="1" lang="ko-KR" altLang="en-US" sz="800"/>
              <a:t> 생성 </a:t>
            </a:r>
            <a:r>
              <a:rPr kumimoji="1" lang="en-US" altLang="ko-KR" sz="800"/>
              <a:t>-&gt;</a:t>
            </a:r>
            <a:r>
              <a:rPr kumimoji="1" lang="ko-KR" altLang="en-US" sz="800"/>
              <a:t> 검증 순서로 처리</a:t>
            </a:r>
            <a:endParaRPr kumimoji="1" lang="en-US" altLang="ko-KR" sz="800"/>
          </a:p>
          <a:p>
            <a:r>
              <a:rPr kumimoji="1" lang="ko-KR" altLang="en-US" sz="800"/>
              <a:t>출력 </a:t>
            </a:r>
            <a:r>
              <a:rPr kumimoji="1" lang="en-US" altLang="ko-KR" sz="800"/>
              <a:t>:</a:t>
            </a:r>
            <a:r>
              <a:rPr kumimoji="1" lang="ko-KR" altLang="en-US" sz="800"/>
              <a:t> 구조화된 기술 문서</a:t>
            </a:r>
            <a:r>
              <a:rPr kumimoji="1" lang="en-US" altLang="ko-KR" sz="800"/>
              <a:t>(</a:t>
            </a:r>
            <a:r>
              <a:rPr kumimoji="1" lang="ko-KR" altLang="en-US" sz="800"/>
              <a:t>마크다운 </a:t>
            </a:r>
            <a:r>
              <a:rPr kumimoji="1" lang="en-US" altLang="ko-KR" sz="800"/>
              <a:t>,JSON)</a:t>
            </a:r>
          </a:p>
          <a:p>
            <a:endParaRPr kumimoji="1" lang="en-US" altLang="ko-KR" sz="800"/>
          </a:p>
          <a:p>
            <a:r>
              <a:rPr kumimoji="1" lang="ko-KR" altLang="en-US" sz="900"/>
              <a:t>기존 검수 방식</a:t>
            </a:r>
            <a:endParaRPr kumimoji="1" lang="en-US" altLang="ko-KR" sz="900"/>
          </a:p>
          <a:p>
            <a:r>
              <a:rPr kumimoji="1" lang="ko-KR" altLang="en-US" sz="800"/>
              <a:t>사람이 출력을 읽고 판단</a:t>
            </a:r>
            <a:endParaRPr kumimoji="1" lang="en-US" altLang="ko-KR" sz="800"/>
          </a:p>
          <a:p>
            <a:r>
              <a:rPr kumimoji="1" lang="en-US" altLang="ko-KR" sz="800"/>
              <a:t>-&gt;</a:t>
            </a:r>
            <a:r>
              <a:rPr kumimoji="1" lang="ko-KR" altLang="en-US" sz="800"/>
              <a:t>수정 필요하면 프롬프트를 고치고 다시 실행</a:t>
            </a:r>
            <a:endParaRPr kumimoji="1" lang="en-US" altLang="ko-KR" sz="800"/>
          </a:p>
          <a:p>
            <a:r>
              <a:rPr kumimoji="1" lang="en-US" altLang="ko-KR" sz="800"/>
              <a:t>-&gt;</a:t>
            </a:r>
            <a:r>
              <a:rPr kumimoji="1" lang="ko-KR" altLang="en-US" sz="800"/>
              <a:t>또 읽고</a:t>
            </a:r>
            <a:r>
              <a:rPr kumimoji="1" lang="en-US" altLang="ko-KR" sz="800"/>
              <a:t>,</a:t>
            </a:r>
            <a:r>
              <a:rPr kumimoji="1" lang="ko-KR" altLang="en-US" sz="800"/>
              <a:t> 또 판단</a:t>
            </a:r>
            <a:r>
              <a:rPr kumimoji="1" lang="en-US" altLang="ko-KR" sz="800"/>
              <a:t>(</a:t>
            </a:r>
            <a:r>
              <a:rPr kumimoji="1" lang="ko-KR" altLang="en-US" sz="800"/>
              <a:t>반복</a:t>
            </a:r>
            <a:r>
              <a:rPr kumimoji="1" lang="en-US" altLang="ko-KR" sz="800"/>
              <a:t>)</a:t>
            </a:r>
          </a:p>
          <a:p>
            <a:pPr marL="285750" indent="-285750">
              <a:buFont typeface="Wingdings" pitchFamily="2" charset="2"/>
              <a:buChar char="è"/>
            </a:pPr>
            <a:endParaRPr kumimoji="1" lang="en-US" altLang="ko-KR" sz="800"/>
          </a:p>
          <a:p>
            <a:r>
              <a:rPr kumimoji="1" lang="ko-KR" altLang="en-US" sz="800"/>
              <a:t>기존 비용 구조</a:t>
            </a:r>
            <a:r>
              <a:rPr kumimoji="1" lang="en-US" altLang="ko-KR" sz="800"/>
              <a:t>LLM </a:t>
            </a:r>
            <a:r>
              <a:rPr kumimoji="1" lang="ko-KR" altLang="en-US" sz="800"/>
              <a:t>호출 비용 </a:t>
            </a:r>
            <a:r>
              <a:rPr kumimoji="1" lang="en-US" altLang="ko-KR" sz="800"/>
              <a:t>:</a:t>
            </a:r>
            <a:r>
              <a:rPr kumimoji="1" lang="ko-KR" altLang="en-US" sz="800"/>
              <a:t> 실행당 </a:t>
            </a:r>
            <a:r>
              <a:rPr kumimoji="1" lang="en-US" altLang="ko-KR" sz="800"/>
              <a:t>$0.01</a:t>
            </a:r>
            <a:r>
              <a:rPr kumimoji="1" lang="ko-KR" altLang="en-US" sz="800"/>
              <a:t> </a:t>
            </a:r>
            <a:r>
              <a:rPr kumimoji="1" lang="en-US" altLang="ko-KR" sz="800"/>
              <a:t>~</a:t>
            </a:r>
            <a:r>
              <a:rPr kumimoji="1" lang="ko-KR" altLang="en-US" sz="800"/>
              <a:t> </a:t>
            </a:r>
            <a:r>
              <a:rPr kumimoji="1" lang="en-US" altLang="ko-KR" sz="800"/>
              <a:t>$0.50</a:t>
            </a:r>
          </a:p>
          <a:p>
            <a:r>
              <a:rPr kumimoji="1" lang="ko-KR" altLang="en-US" sz="800"/>
              <a:t>검수 비용 </a:t>
            </a:r>
            <a:r>
              <a:rPr kumimoji="1" lang="en-US" altLang="ko-KR" sz="800"/>
              <a:t>:</a:t>
            </a:r>
            <a:r>
              <a:rPr kumimoji="1" lang="ko-KR" altLang="en-US" sz="800"/>
              <a:t> 사람 시간</a:t>
            </a:r>
            <a:r>
              <a:rPr kumimoji="1" lang="en-US" altLang="ko-KR" sz="800"/>
              <a:t>(</a:t>
            </a:r>
            <a:r>
              <a:rPr kumimoji="1" lang="ko-KR" altLang="en-US" sz="800"/>
              <a:t>체감상 </a:t>
            </a:r>
            <a:r>
              <a:rPr kumimoji="1" lang="en-US" altLang="ko-KR" sz="800"/>
              <a:t>LLM </a:t>
            </a:r>
            <a:r>
              <a:rPr kumimoji="1" lang="ko-KR" altLang="en-US" sz="800"/>
              <a:t>비용보다 큼</a:t>
            </a:r>
            <a:r>
              <a:rPr kumimoji="1" lang="en-US" altLang="ko-KR" sz="800"/>
              <a:t>)</a:t>
            </a:r>
          </a:p>
          <a:p>
            <a:endParaRPr kumimoji="1" lang="en-US" altLang="ko-KR" sz="800"/>
          </a:p>
          <a:p>
            <a:r>
              <a:rPr kumimoji="1" lang="ko-KR" altLang="en-US" sz="900" b="1">
                <a:solidFill>
                  <a:srgbClr val="4B8DB8"/>
                </a:solidFill>
              </a:rPr>
              <a:t>문제 상황</a:t>
            </a:r>
            <a:endParaRPr kumimoji="1" lang="en-US" altLang="ko-KR" sz="800"/>
          </a:p>
          <a:p>
            <a:r>
              <a:rPr kumimoji="1" lang="ko-KR" altLang="en-US" sz="800"/>
              <a:t>문제</a:t>
            </a:r>
            <a:endParaRPr kumimoji="1" lang="en-US" altLang="ko-KR" sz="800"/>
          </a:p>
          <a:p>
            <a:r>
              <a:rPr kumimoji="1" lang="ko-KR" altLang="en-US" sz="800"/>
              <a:t>출력 품질 불일치</a:t>
            </a:r>
            <a:endParaRPr kumimoji="1" lang="en-US" altLang="ko-KR" sz="800"/>
          </a:p>
          <a:p>
            <a:r>
              <a:rPr kumimoji="1" lang="ko-KR" altLang="en-US" sz="800"/>
              <a:t>같은 프롬프트로 </a:t>
            </a:r>
            <a:r>
              <a:rPr kumimoji="1" lang="en-US" altLang="ko-KR" sz="800"/>
              <a:t>5</a:t>
            </a:r>
            <a:r>
              <a:rPr kumimoji="1" lang="ko-KR" altLang="en-US" sz="800"/>
              <a:t>번 실행 </a:t>
            </a:r>
            <a:r>
              <a:rPr kumimoji="1" lang="en-US" altLang="ko-KR" sz="800"/>
              <a:t>-&gt;</a:t>
            </a:r>
            <a:r>
              <a:rPr kumimoji="1" lang="ko-KR" altLang="en-US" sz="800"/>
              <a:t> </a:t>
            </a:r>
            <a:r>
              <a:rPr kumimoji="1" lang="en-US" altLang="ko-KR" sz="800"/>
              <a:t>2</a:t>
            </a:r>
            <a:r>
              <a:rPr kumimoji="1" lang="ko-KR" altLang="en-US" sz="800"/>
              <a:t>번 좋음</a:t>
            </a:r>
            <a:r>
              <a:rPr kumimoji="1" lang="en-US" altLang="ko-KR" sz="800"/>
              <a:t>,</a:t>
            </a:r>
            <a:r>
              <a:rPr kumimoji="1" lang="ko-KR" altLang="en-US" sz="800"/>
              <a:t> </a:t>
            </a:r>
            <a:r>
              <a:rPr kumimoji="1" lang="en-US" altLang="ko-KR" sz="800"/>
              <a:t>2</a:t>
            </a:r>
            <a:r>
              <a:rPr kumimoji="1" lang="ko-KR" altLang="en-US" sz="800"/>
              <a:t>번 보통</a:t>
            </a:r>
            <a:r>
              <a:rPr kumimoji="1" lang="en-US" altLang="ko-KR" sz="800"/>
              <a:t>,</a:t>
            </a:r>
            <a:r>
              <a:rPr kumimoji="1" lang="ko-KR" altLang="en-US" sz="800"/>
              <a:t> </a:t>
            </a:r>
            <a:r>
              <a:rPr kumimoji="1" lang="en-US" altLang="ko-KR" sz="800"/>
              <a:t>1</a:t>
            </a:r>
            <a:r>
              <a:rPr kumimoji="1" lang="ko-KR" altLang="en-US" sz="800"/>
              <a:t>번 형식 깨짐</a:t>
            </a:r>
            <a:endParaRPr kumimoji="1" lang="en-US" altLang="ko-KR" sz="800"/>
          </a:p>
          <a:p>
            <a:r>
              <a:rPr kumimoji="1" lang="en-US" altLang="ko-KR" sz="800"/>
              <a:t>JSON </a:t>
            </a:r>
            <a:r>
              <a:rPr kumimoji="1" lang="ko-KR" altLang="en-US" sz="800"/>
              <a:t>필수 필드 누락</a:t>
            </a:r>
            <a:r>
              <a:rPr kumimoji="1" lang="en-US" altLang="ko-KR" sz="800"/>
              <a:t>,</a:t>
            </a:r>
            <a:r>
              <a:rPr kumimoji="1" lang="ko-KR" altLang="en-US" sz="800"/>
              <a:t> 섹션 비어있음</a:t>
            </a:r>
            <a:r>
              <a:rPr kumimoji="1" lang="en-US" altLang="ko-KR" sz="800"/>
              <a:t>,</a:t>
            </a:r>
            <a:r>
              <a:rPr kumimoji="1" lang="ko-KR" altLang="en-US" sz="800"/>
              <a:t> 인용 번호 불일치</a:t>
            </a:r>
            <a:endParaRPr kumimoji="1" lang="en-US" altLang="ko-KR" sz="800"/>
          </a:p>
          <a:p>
            <a:endParaRPr kumimoji="1" lang="en-US" altLang="ko-KR" sz="800"/>
          </a:p>
          <a:p>
            <a:r>
              <a:rPr kumimoji="1" lang="ko-KR" altLang="en-US" sz="800"/>
              <a:t>문제</a:t>
            </a:r>
            <a:endParaRPr kumimoji="1" lang="en-US" altLang="ko-KR" sz="800"/>
          </a:p>
          <a:p>
            <a:r>
              <a:rPr kumimoji="1" lang="ko-KR" altLang="en-US" sz="800"/>
              <a:t>같은 유형의 실수 반복</a:t>
            </a:r>
            <a:endParaRPr kumimoji="1" lang="en-US" altLang="ko-KR" sz="800"/>
          </a:p>
          <a:p>
            <a:r>
              <a:rPr kumimoji="1" lang="ko-KR" altLang="en-US" sz="800"/>
              <a:t>프롬프트 명시해도 </a:t>
            </a:r>
            <a:r>
              <a:rPr kumimoji="1" lang="en-US" altLang="ko-KR" sz="800"/>
              <a:t>3~4</a:t>
            </a:r>
            <a:r>
              <a:rPr kumimoji="1" lang="ko-KR" altLang="en-US" sz="800"/>
              <a:t>회 중 </a:t>
            </a:r>
            <a:r>
              <a:rPr kumimoji="1" lang="en-US" altLang="ko-KR" sz="800"/>
              <a:t>1</a:t>
            </a:r>
            <a:r>
              <a:rPr kumimoji="1" lang="ko-KR" altLang="en-US" sz="800"/>
              <a:t>회는 규칙 위반</a:t>
            </a:r>
            <a:endParaRPr kumimoji="1" lang="en-US" altLang="ko-KR" sz="800"/>
          </a:p>
          <a:p>
            <a:r>
              <a:rPr kumimoji="1" lang="ko-KR" altLang="en-US" sz="800"/>
              <a:t>고쳤다고 생각하면 다른 단계에서 같은 패턴 발생</a:t>
            </a:r>
            <a:endParaRPr kumimoji="1" lang="en-US" altLang="ko-KR" sz="800"/>
          </a:p>
          <a:p>
            <a:endParaRPr kumimoji="1" lang="en-US" altLang="ko-KR" sz="800"/>
          </a:p>
          <a:p>
            <a:r>
              <a:rPr kumimoji="1" lang="ko-KR" altLang="en-US" sz="800"/>
              <a:t>문제 </a:t>
            </a:r>
            <a:endParaRPr kumimoji="1" lang="en-US" altLang="ko-KR" sz="800"/>
          </a:p>
          <a:p>
            <a:r>
              <a:rPr kumimoji="1" lang="ko-KR" altLang="en-US" sz="800"/>
              <a:t>프롬프트 수정의 부작용을 모름</a:t>
            </a:r>
            <a:endParaRPr kumimoji="1" lang="en-US" altLang="ko-KR" sz="800"/>
          </a:p>
          <a:p>
            <a:r>
              <a:rPr kumimoji="1" lang="ko-KR" altLang="en-US" sz="800"/>
              <a:t>체계적 비교 수단 없음</a:t>
            </a:r>
            <a:endParaRPr kumimoji="1" lang="en-US" altLang="ko-KR" sz="800"/>
          </a:p>
          <a:p>
            <a:r>
              <a:rPr kumimoji="1" lang="ko-KR" altLang="en-US" sz="800"/>
              <a:t>고쳤는데 다른 단계가 망가져도 모름</a:t>
            </a:r>
            <a:endParaRPr kumimoji="1" lang="en-US" altLang="ko-KR" sz="800"/>
          </a:p>
          <a:p>
            <a:r>
              <a:rPr kumimoji="1" lang="ko-KR" altLang="en-US" sz="800"/>
              <a:t>감에 의존한 프롬프트 튜닝</a:t>
            </a:r>
            <a:endParaRPr kumimoji="1" lang="en-US" altLang="ko-KR" sz="800"/>
          </a:p>
          <a:p>
            <a:endParaRPr kumimoji="1" lang="en-US" altLang="ko-KR" sz="800"/>
          </a:p>
          <a:p>
            <a:r>
              <a:rPr kumimoji="1" lang="ko-KR" altLang="en-US" sz="800"/>
              <a:t>문제</a:t>
            </a:r>
            <a:r>
              <a:rPr kumimoji="1" lang="en-US" altLang="ko-KR" sz="800"/>
              <a:t>4</a:t>
            </a:r>
          </a:p>
          <a:p>
            <a:r>
              <a:rPr kumimoji="1" lang="ko-KR" altLang="en-US" sz="800"/>
              <a:t>사람마다 기준이 다름</a:t>
            </a:r>
            <a:r>
              <a:rPr kumimoji="1" lang="en-US" altLang="ko-KR" sz="800"/>
              <a:t>(</a:t>
            </a:r>
            <a:r>
              <a:rPr kumimoji="1" lang="ko-KR" altLang="en-US" sz="800"/>
              <a:t>일관성 없음</a:t>
            </a:r>
            <a:r>
              <a:rPr kumimoji="1" lang="en-US" altLang="ko-KR" sz="800"/>
              <a:t>)</a:t>
            </a:r>
          </a:p>
          <a:p>
            <a:r>
              <a:rPr kumimoji="1" lang="ko-KR" altLang="en-US" sz="800"/>
              <a:t>피로도에 따라 검수 품질이 달라짐</a:t>
            </a:r>
            <a:r>
              <a:rPr kumimoji="1" lang="en-US" altLang="ko-KR" sz="800"/>
              <a:t>(</a:t>
            </a:r>
            <a:r>
              <a:rPr kumimoji="1" lang="ko-KR" altLang="en-US" sz="800"/>
              <a:t>확장 불가</a:t>
            </a:r>
            <a:r>
              <a:rPr kumimoji="1" lang="en-US" altLang="ko-KR" sz="800"/>
              <a:t>)</a:t>
            </a:r>
          </a:p>
          <a:p>
            <a:r>
              <a:rPr kumimoji="1" lang="ko-KR" altLang="en-US" sz="800"/>
              <a:t>검수 결과가 기록되지 않음</a:t>
            </a:r>
            <a:r>
              <a:rPr kumimoji="1" lang="en-US" altLang="ko-KR" sz="800"/>
              <a:t>(</a:t>
            </a:r>
            <a:r>
              <a:rPr kumimoji="1" lang="ko-KR" altLang="en-US" sz="800"/>
              <a:t>학습 불가</a:t>
            </a:r>
            <a:r>
              <a:rPr kumimoji="1" lang="en-US" altLang="ko-KR" sz="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6897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7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6128</Words>
  <Application>Microsoft Macintosh PowerPoint</Application>
  <PresentationFormat>사용자 지정</PresentationFormat>
  <Paragraphs>544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NanumGothic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범수</cp:lastModifiedBy>
  <cp:revision>2</cp:revision>
  <dcterms:created xsi:type="dcterms:W3CDTF">2013-01-27T09:14:16Z</dcterms:created>
  <dcterms:modified xsi:type="dcterms:W3CDTF">2026-03-30T16:04:52Z</dcterms:modified>
  <cp:category/>
</cp:coreProperties>
</file>